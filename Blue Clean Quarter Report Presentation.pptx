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64" r:id="rId4"/>
    <p:sldId id="258" r:id="rId5"/>
    <p:sldId id="259" r:id="rId6"/>
    <p:sldId id="260" r:id="rId7"/>
    <p:sldId id="261" r:id="rId8"/>
    <p:sldId id="262" r:id="rId9"/>
    <p:sldId id="263" r:id="rId10"/>
    <p:sldId id="266" r:id="rId11"/>
    <p:sldId id="267" r:id="rId12"/>
    <p:sldId id="265" r:id="rId13"/>
    <p:sldId id="268" r:id="rId14"/>
  </p:sldIdLst>
  <p:sldSz cx="18288000" cy="10287000"/>
  <p:notesSz cx="6858000" cy="9144000"/>
  <p:embeddedFontLst>
    <p:embeddedFont>
      <p:font typeface="Calibri" panose="020F0502020204030204" pitchFamily="34" charset="0"/>
      <p:regular r:id="rId16"/>
      <p:bold r:id="rId17"/>
      <p:italic r:id="rId18"/>
      <p:boldItalic r:id="rId19"/>
    </p:embeddedFont>
    <p:embeddedFont>
      <p:font typeface="Codec Pro" panose="020B0604020202020204" charset="0"/>
      <p:regular r:id="rId20"/>
    </p:embeddedFont>
    <p:embeddedFont>
      <p:font typeface="Codec Pro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12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CADC8-B9A2-47D0-9CD9-B75C187B8572}"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F79BE6-C15D-47D3-AF86-A8B18F1A6C3F}" type="slidenum">
              <a:rPr lang="en-US" smtClean="0"/>
              <a:t>‹#›</a:t>
            </a:fld>
            <a:endParaRPr lang="en-US"/>
          </a:p>
        </p:txBody>
      </p:sp>
    </p:spTree>
    <p:extLst>
      <p:ext uri="{BB962C8B-B14F-4D97-AF65-F5344CB8AC3E}">
        <p14:creationId xmlns:p14="http://schemas.microsoft.com/office/powerpoint/2010/main" val="723805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F79BE6-C15D-47D3-AF86-A8B18F1A6C3F}" type="slidenum">
              <a:rPr lang="en-US" smtClean="0"/>
              <a:t>10</a:t>
            </a:fld>
            <a:endParaRPr lang="en-US"/>
          </a:p>
        </p:txBody>
      </p:sp>
    </p:spTree>
    <p:extLst>
      <p:ext uri="{BB962C8B-B14F-4D97-AF65-F5344CB8AC3E}">
        <p14:creationId xmlns:p14="http://schemas.microsoft.com/office/powerpoint/2010/main" val="3555068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jpeg"/><Relationship Id="rId9" Type="http://schemas.openxmlformats.org/officeDocument/2006/relationships/image" Target="../media/image15.svg"/></Relationships>
</file>

<file path=ppt/slides/_rels/slide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12.svg"/><Relationship Id="rId7" Type="http://schemas.openxmlformats.org/officeDocument/2006/relationships/image" Target="../media/image18.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3.png"/><Relationship Id="rId10" Type="http://schemas.openxmlformats.org/officeDocument/2006/relationships/hyperlink" Target="https://dbdiagram.io/d/69b07015cf54053b6f538fc6" TargetMode="External"/><Relationship Id="rId4" Type="http://schemas.openxmlformats.org/officeDocument/2006/relationships/image" Target="../media/image16.jpe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12.svg"/><Relationship Id="rId7" Type="http://schemas.openxmlformats.org/officeDocument/2006/relationships/image" Target="../media/image18.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3.png"/><Relationship Id="rId10" Type="http://schemas.openxmlformats.org/officeDocument/2006/relationships/hyperlink" Target="https://drive.google.com/file/d/1-U5HDeJuQdfPYapWFKvK1SXiO8gnuQhK/view?usp=sharing" TargetMode="External"/><Relationship Id="rId4" Type="http://schemas.openxmlformats.org/officeDocument/2006/relationships/image" Target="../media/image16.jpe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2.svg"/><Relationship Id="rId7"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hyperlink" Target="https://drive.google.com/file/d/1-U5HDeJuQdfPYapWFKvK1SXiO8gnuQhK/view?usp=sharing" TargetMode="External"/><Relationship Id="rId4" Type="http://schemas.openxmlformats.org/officeDocument/2006/relationships/image" Target="../media/image13.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2.svg"/><Relationship Id="rId7"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2.svg"/><Relationship Id="rId7"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2.svg"/><Relationship Id="rId7"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2.svg"/><Relationship Id="rId7"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1.png"/><Relationship Id="rId7" Type="http://schemas.openxmlformats.org/officeDocument/2006/relationships/image" Target="../media/image17.png"/><Relationship Id="rId12"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hyperlink" Target="https://drive.google.com/file/d/1wLWH0X9HPIrEaGC6RRRZFdn_bnS_xhb9/view?usp=sharing" TargetMode="External"/><Relationship Id="rId5" Type="http://schemas.openxmlformats.org/officeDocument/2006/relationships/image" Target="../media/image16.jpeg"/><Relationship Id="rId10" Type="http://schemas.openxmlformats.org/officeDocument/2006/relationships/hyperlink" Target="https://drive.google.com/file/d/1Y_eiSlgWF_mQvoWjUNs6OErUzsBBxLs0/view?usp=sharing" TargetMode="External"/><Relationship Id="rId4" Type="http://schemas.openxmlformats.org/officeDocument/2006/relationships/image" Target="../media/image12.svg"/><Relationship Id="rId9" Type="http://schemas.openxmlformats.org/officeDocument/2006/relationships/image" Target="../media/image1.jpe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svg"/><Relationship Id="rId7" Type="http://schemas.openxmlformats.org/officeDocument/2006/relationships/hyperlink" Target="https://drive.google.com/file/d/1CHBjom0uFUJSLB5TC1clkespy92CYDSa/view?usp=sharing" TargetMode="External"/><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jpeg"/><Relationship Id="rId4" Type="http://schemas.openxmlformats.org/officeDocument/2006/relationships/image" Target="../media/image13.png"/><Relationship Id="rId9" Type="http://schemas.openxmlformats.org/officeDocument/2006/relationships/image" Target="../media/image15.svg"/></Relationships>
</file>

<file path=ppt/slides/_rels/slide12.xml.rels><?xml version="1.0" encoding="UTF-8" standalone="yes"?>
<Relationships xmlns="http://schemas.openxmlformats.org/package/2006/relationships"><Relationship Id="rId8" Type="http://schemas.openxmlformats.org/officeDocument/2006/relationships/hyperlink" Target="https://drive.google.com/file/d/1FafKuh-iK-3iOeygq6bpkNNoFp7vf1uV/view?usp=sharing" TargetMode="External"/><Relationship Id="rId3" Type="http://schemas.openxmlformats.org/officeDocument/2006/relationships/image" Target="../media/image12.svg"/><Relationship Id="rId7"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13.png"/><Relationship Id="rId10" Type="http://schemas.openxmlformats.org/officeDocument/2006/relationships/image" Target="../media/image37.png"/><Relationship Id="rId4" Type="http://schemas.openxmlformats.org/officeDocument/2006/relationships/image" Target="../media/image34.jpeg"/><Relationship Id="rId9" Type="http://schemas.openxmlformats.org/officeDocument/2006/relationships/hyperlink" Target="https://drive.google.com/file/d/1hdqkTpUHEyxgAaJ94Zfhx1WPYs0vaxqb/view?usp=sharing"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png"/><Relationship Id="rId7" Type="http://schemas.openxmlformats.org/officeDocument/2006/relationships/image" Target="../media/image3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2.svg"/><Relationship Id="rId5" Type="http://schemas.openxmlformats.org/officeDocument/2006/relationships/image" Target="../media/image4.png"/><Relationship Id="rId10" Type="http://schemas.openxmlformats.org/officeDocument/2006/relationships/image" Target="../media/image41.png"/><Relationship Id="rId4" Type="http://schemas.openxmlformats.org/officeDocument/2006/relationships/image" Target="../media/image3.svg"/><Relationship Id="rId9" Type="http://schemas.openxmlformats.org/officeDocument/2006/relationships/image" Target="../media/image4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stretch>
              <a:fillRect t="-9222" b="-9222"/>
            </a:stretch>
          </a:blipFill>
        </p:spPr>
      </p:sp>
      <p:sp>
        <p:nvSpPr>
          <p:cNvPr id="3" name="Freeform 3"/>
          <p:cNvSpPr/>
          <p:nvPr/>
        </p:nvSpPr>
        <p:spPr>
          <a:xfrm>
            <a:off x="8761936" y="1949067"/>
            <a:ext cx="764129" cy="924267"/>
          </a:xfrm>
          <a:custGeom>
            <a:avLst/>
            <a:gdLst/>
            <a:ahLst/>
            <a:cxnLst/>
            <a:rect l="l" t="t" r="r" b="b"/>
            <a:pathLst>
              <a:path w="764129" h="924267">
                <a:moveTo>
                  <a:pt x="0" y="0"/>
                </a:moveTo>
                <a:lnTo>
                  <a:pt x="764128" y="0"/>
                </a:lnTo>
                <a:lnTo>
                  <a:pt x="764128" y="924267"/>
                </a:lnTo>
                <a:lnTo>
                  <a:pt x="0" y="9242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7532111" y="7633308"/>
            <a:ext cx="3223779" cy="704625"/>
            <a:chOff x="0" y="0"/>
            <a:chExt cx="849061" cy="185580"/>
          </a:xfrm>
        </p:grpSpPr>
        <p:sp>
          <p:nvSpPr>
            <p:cNvPr id="5" name="Freeform 5"/>
            <p:cNvSpPr/>
            <p:nvPr/>
          </p:nvSpPr>
          <p:spPr>
            <a:xfrm>
              <a:off x="0" y="0"/>
              <a:ext cx="849061" cy="185580"/>
            </a:xfrm>
            <a:custGeom>
              <a:avLst/>
              <a:gdLst/>
              <a:ahLst/>
              <a:cxnLst/>
              <a:rect l="l" t="t" r="r" b="b"/>
              <a:pathLst>
                <a:path w="849061" h="185580">
                  <a:moveTo>
                    <a:pt x="92790" y="0"/>
                  </a:moveTo>
                  <a:lnTo>
                    <a:pt x="756271" y="0"/>
                  </a:lnTo>
                  <a:cubicBezTo>
                    <a:pt x="780880" y="0"/>
                    <a:pt x="804482" y="9776"/>
                    <a:pt x="821884" y="27178"/>
                  </a:cubicBezTo>
                  <a:cubicBezTo>
                    <a:pt x="839285" y="44579"/>
                    <a:pt x="849061" y="68181"/>
                    <a:pt x="849061" y="92790"/>
                  </a:cubicBezTo>
                  <a:lnTo>
                    <a:pt x="849061" y="92790"/>
                  </a:lnTo>
                  <a:cubicBezTo>
                    <a:pt x="849061" y="117400"/>
                    <a:pt x="839285" y="141001"/>
                    <a:pt x="821884" y="158403"/>
                  </a:cubicBezTo>
                  <a:cubicBezTo>
                    <a:pt x="804482" y="175804"/>
                    <a:pt x="780880" y="185580"/>
                    <a:pt x="756271" y="185580"/>
                  </a:cubicBezTo>
                  <a:lnTo>
                    <a:pt x="92790" y="185580"/>
                  </a:lnTo>
                  <a:cubicBezTo>
                    <a:pt x="68181" y="185580"/>
                    <a:pt x="44579" y="175804"/>
                    <a:pt x="27178" y="158403"/>
                  </a:cubicBezTo>
                  <a:cubicBezTo>
                    <a:pt x="9776" y="141001"/>
                    <a:pt x="0" y="117400"/>
                    <a:pt x="0" y="92790"/>
                  </a:cubicBezTo>
                  <a:lnTo>
                    <a:pt x="0" y="92790"/>
                  </a:lnTo>
                  <a:cubicBezTo>
                    <a:pt x="0" y="68181"/>
                    <a:pt x="9776" y="44579"/>
                    <a:pt x="27178" y="27178"/>
                  </a:cubicBezTo>
                  <a:cubicBezTo>
                    <a:pt x="44579" y="9776"/>
                    <a:pt x="68181" y="0"/>
                    <a:pt x="92790" y="0"/>
                  </a:cubicBezTo>
                  <a:close/>
                </a:path>
              </a:pathLst>
            </a:custGeom>
            <a:ln w="19050" cap="rnd">
              <a:solidFill>
                <a:srgbClr val="FFFFFF"/>
              </a:solidFill>
              <a:prstDash val="solid"/>
              <a:round/>
            </a:ln>
          </p:spPr>
        </p:sp>
        <p:sp>
          <p:nvSpPr>
            <p:cNvPr id="6" name="TextBox 6"/>
            <p:cNvSpPr txBox="1"/>
            <p:nvPr/>
          </p:nvSpPr>
          <p:spPr>
            <a:xfrm>
              <a:off x="0" y="-28575"/>
              <a:ext cx="849061" cy="214155"/>
            </a:xfrm>
            <a:prstGeom prst="rect">
              <a:avLst/>
            </a:prstGeom>
          </p:spPr>
          <p:txBody>
            <a:bodyPr lIns="50800" tIns="50800" rIns="50800" bIns="50800" rtlCol="0" anchor="ctr"/>
            <a:lstStyle/>
            <a:p>
              <a:pPr algn="ctr">
                <a:lnSpc>
                  <a:spcPts val="2200"/>
                </a:lnSpc>
              </a:pPr>
              <a:endParaRPr/>
            </a:p>
          </p:txBody>
        </p:sp>
      </p:grpSp>
      <p:sp>
        <p:nvSpPr>
          <p:cNvPr id="7" name="TextBox 7"/>
          <p:cNvSpPr txBox="1"/>
          <p:nvPr/>
        </p:nvSpPr>
        <p:spPr>
          <a:xfrm>
            <a:off x="4040181" y="3768541"/>
            <a:ext cx="10207639" cy="2711817"/>
          </a:xfrm>
          <a:prstGeom prst="rect">
            <a:avLst/>
          </a:prstGeom>
        </p:spPr>
        <p:txBody>
          <a:bodyPr lIns="0" tIns="0" rIns="0" bIns="0" rtlCol="0" anchor="t">
            <a:spAutoFit/>
          </a:bodyPr>
          <a:lstStyle/>
          <a:p>
            <a:pPr algn="ctr">
              <a:lnSpc>
                <a:spcPts val="6824"/>
              </a:lnSpc>
            </a:pPr>
            <a:r>
              <a:rPr lang="en-US" sz="6204" b="1">
                <a:solidFill>
                  <a:srgbClr val="FFFFFF"/>
                </a:solidFill>
                <a:latin typeface="Codec Pro Bold"/>
                <a:ea typeface="Codec Pro Bold"/>
                <a:cs typeface="Codec Pro Bold"/>
                <a:sym typeface="Codec Pro Bold"/>
              </a:rPr>
              <a:t>University Student Registration &amp; Results Management Database </a:t>
            </a:r>
          </a:p>
        </p:txBody>
      </p:sp>
      <p:sp>
        <p:nvSpPr>
          <p:cNvPr id="8" name="Freeform 8"/>
          <p:cNvSpPr/>
          <p:nvPr/>
        </p:nvSpPr>
        <p:spPr>
          <a:xfrm>
            <a:off x="567407" y="6858495"/>
            <a:ext cx="3583617" cy="4114800"/>
          </a:xfrm>
          <a:custGeom>
            <a:avLst/>
            <a:gdLst/>
            <a:ahLst/>
            <a:cxnLst/>
            <a:rect l="l" t="t" r="r" b="b"/>
            <a:pathLst>
              <a:path w="3583617" h="4114800">
                <a:moveTo>
                  <a:pt x="0" y="0"/>
                </a:moveTo>
                <a:lnTo>
                  <a:pt x="3583617" y="0"/>
                </a:lnTo>
                <a:lnTo>
                  <a:pt x="358361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14939888" y="-79643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7532111" y="6944220"/>
            <a:ext cx="3223779" cy="330221"/>
          </a:xfrm>
          <a:prstGeom prst="rect">
            <a:avLst/>
          </a:prstGeom>
        </p:spPr>
        <p:txBody>
          <a:bodyPr lIns="0" tIns="0" rIns="0" bIns="0" rtlCol="0" anchor="t">
            <a:spAutoFit/>
          </a:bodyPr>
          <a:lstStyle/>
          <a:p>
            <a:pPr algn="ctr">
              <a:lnSpc>
                <a:spcPts val="2200"/>
              </a:lnSpc>
            </a:pPr>
            <a:r>
              <a:rPr lang="en-US" sz="2000">
                <a:solidFill>
                  <a:srgbClr val="FFFFFF"/>
                </a:solidFill>
                <a:latin typeface="Codec Pro"/>
                <a:ea typeface="Codec Pro"/>
                <a:cs typeface="Codec Pro"/>
                <a:sym typeface="Codec Pro"/>
              </a:rPr>
              <a:t>Presentation By</a:t>
            </a:r>
          </a:p>
        </p:txBody>
      </p:sp>
      <p:sp>
        <p:nvSpPr>
          <p:cNvPr id="11" name="TextBox 11"/>
          <p:cNvSpPr txBox="1"/>
          <p:nvPr/>
        </p:nvSpPr>
        <p:spPr>
          <a:xfrm>
            <a:off x="7752760" y="7838237"/>
            <a:ext cx="2782480" cy="330200"/>
          </a:xfrm>
          <a:prstGeom prst="rect">
            <a:avLst/>
          </a:prstGeom>
        </p:spPr>
        <p:txBody>
          <a:bodyPr lIns="0" tIns="0" rIns="0" bIns="0" rtlCol="0" anchor="t">
            <a:spAutoFit/>
          </a:bodyPr>
          <a:lstStyle/>
          <a:p>
            <a:pPr algn="ctr">
              <a:lnSpc>
                <a:spcPts val="2200"/>
              </a:lnSpc>
            </a:pPr>
            <a:r>
              <a:rPr lang="en-US" sz="2000" b="1">
                <a:solidFill>
                  <a:srgbClr val="FFFFFF"/>
                </a:solidFill>
                <a:latin typeface="Codec Pro Bold"/>
                <a:ea typeface="Codec Pro Bold"/>
                <a:cs typeface="Codec Pro Bold"/>
                <a:sym typeface="Codec Pro Bold"/>
              </a:rPr>
              <a:t>Group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79613" y="-2218025"/>
            <a:ext cx="4436051" cy="4436051"/>
          </a:xfrm>
          <a:custGeom>
            <a:avLst/>
            <a:gdLst/>
            <a:ahLst/>
            <a:cxnLst/>
            <a:rect l="l" t="t" r="r" b="b"/>
            <a:pathLst>
              <a:path w="4436051" h="4436051">
                <a:moveTo>
                  <a:pt x="0" y="0"/>
                </a:moveTo>
                <a:lnTo>
                  <a:pt x="4436051" y="0"/>
                </a:lnTo>
                <a:lnTo>
                  <a:pt x="4436051" y="4436050"/>
                </a:lnTo>
                <a:lnTo>
                  <a:pt x="0" y="44360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9397639" y="-1220057"/>
            <a:ext cx="7861661" cy="10478357"/>
            <a:chOff x="0" y="0"/>
            <a:chExt cx="1217977" cy="1623372"/>
          </a:xfrm>
        </p:grpSpPr>
        <p:sp>
          <p:nvSpPr>
            <p:cNvPr id="4" name="Freeform 4"/>
            <p:cNvSpPr/>
            <p:nvPr/>
          </p:nvSpPr>
          <p:spPr>
            <a:xfrm>
              <a:off x="0" y="0"/>
              <a:ext cx="1217977" cy="1623372"/>
            </a:xfrm>
            <a:custGeom>
              <a:avLst/>
              <a:gdLst/>
              <a:ahLst/>
              <a:cxnLst/>
              <a:rect l="l" t="t" r="r" b="b"/>
              <a:pathLst>
                <a:path w="1217977" h="1623372">
                  <a:moveTo>
                    <a:pt x="98477" y="0"/>
                  </a:moveTo>
                  <a:lnTo>
                    <a:pt x="1119500" y="0"/>
                  </a:lnTo>
                  <a:cubicBezTo>
                    <a:pt x="1145618" y="0"/>
                    <a:pt x="1170666" y="10375"/>
                    <a:pt x="1189134" y="28843"/>
                  </a:cubicBezTo>
                  <a:cubicBezTo>
                    <a:pt x="1207602" y="47311"/>
                    <a:pt x="1217977" y="72359"/>
                    <a:pt x="1217977" y="98477"/>
                  </a:cubicBezTo>
                  <a:lnTo>
                    <a:pt x="1217977" y="1524895"/>
                  </a:lnTo>
                  <a:cubicBezTo>
                    <a:pt x="1217977" y="1579282"/>
                    <a:pt x="1173887" y="1623372"/>
                    <a:pt x="1119500" y="1623372"/>
                  </a:cubicBezTo>
                  <a:lnTo>
                    <a:pt x="98477" y="1623372"/>
                  </a:lnTo>
                  <a:cubicBezTo>
                    <a:pt x="72359" y="1623372"/>
                    <a:pt x="47311" y="1612996"/>
                    <a:pt x="28843" y="1594528"/>
                  </a:cubicBezTo>
                  <a:cubicBezTo>
                    <a:pt x="10375" y="1576060"/>
                    <a:pt x="0" y="1551012"/>
                    <a:pt x="0" y="1524895"/>
                  </a:cubicBezTo>
                  <a:lnTo>
                    <a:pt x="0" y="98477"/>
                  </a:lnTo>
                  <a:cubicBezTo>
                    <a:pt x="0" y="72359"/>
                    <a:pt x="10375" y="47311"/>
                    <a:pt x="28843" y="28843"/>
                  </a:cubicBezTo>
                  <a:cubicBezTo>
                    <a:pt x="47311" y="10375"/>
                    <a:pt x="72359" y="0"/>
                    <a:pt x="98477" y="0"/>
                  </a:cubicBezTo>
                  <a:close/>
                </a:path>
              </a:pathLst>
            </a:custGeom>
            <a:blipFill>
              <a:blip r:embed="rId4"/>
              <a:stretch>
                <a:fillRect l="-163" r="-163"/>
              </a:stretch>
            </a:blipFill>
          </p:spPr>
        </p:sp>
      </p:grpSp>
      <p:sp>
        <p:nvSpPr>
          <p:cNvPr id="5" name="Freeform 5"/>
          <p:cNvSpPr/>
          <p:nvPr/>
        </p:nvSpPr>
        <p:spPr>
          <a:xfrm>
            <a:off x="610699" y="727075"/>
            <a:ext cx="249366" cy="301625"/>
          </a:xfrm>
          <a:custGeom>
            <a:avLst/>
            <a:gdLst/>
            <a:ahLst/>
            <a:cxnLst/>
            <a:rect l="l" t="t" r="r" b="b"/>
            <a:pathLst>
              <a:path w="249366" h="301625">
                <a:moveTo>
                  <a:pt x="0" y="0"/>
                </a:moveTo>
                <a:lnTo>
                  <a:pt x="249365" y="0"/>
                </a:lnTo>
                <a:lnTo>
                  <a:pt x="249365" y="301625"/>
                </a:lnTo>
                <a:lnTo>
                  <a:pt x="0" y="3016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4260576" y="3953526"/>
            <a:ext cx="7848780" cy="7891826"/>
          </a:xfrm>
          <a:custGeom>
            <a:avLst/>
            <a:gdLst/>
            <a:ahLst/>
            <a:cxnLst/>
            <a:rect l="l" t="t" r="r" b="b"/>
            <a:pathLst>
              <a:path w="7848780" h="7891826">
                <a:moveTo>
                  <a:pt x="7848780" y="0"/>
                </a:moveTo>
                <a:lnTo>
                  <a:pt x="0" y="0"/>
                </a:lnTo>
                <a:lnTo>
                  <a:pt x="0" y="7891826"/>
                </a:lnTo>
                <a:lnTo>
                  <a:pt x="7848780" y="7891826"/>
                </a:lnTo>
                <a:lnTo>
                  <a:pt x="7848780" y="0"/>
                </a:lnTo>
                <a:close/>
              </a:path>
            </a:pathLst>
          </a:custGeom>
          <a:blipFill>
            <a:blip r:embed="rId7"/>
            <a:stretch>
              <a:fillRect/>
            </a:stretch>
          </a:blipFill>
        </p:spPr>
      </p:sp>
      <p:sp>
        <p:nvSpPr>
          <p:cNvPr id="7" name="Freeform 7"/>
          <p:cNvSpPr/>
          <p:nvPr/>
        </p:nvSpPr>
        <p:spPr>
          <a:xfrm>
            <a:off x="860064" y="8250733"/>
            <a:ext cx="2358191" cy="2724801"/>
          </a:xfrm>
          <a:custGeom>
            <a:avLst/>
            <a:gdLst/>
            <a:ahLst/>
            <a:cxnLst/>
            <a:rect l="l" t="t" r="r" b="b"/>
            <a:pathLst>
              <a:path w="2358191" h="2724801">
                <a:moveTo>
                  <a:pt x="0" y="0"/>
                </a:moveTo>
                <a:lnTo>
                  <a:pt x="2358192" y="0"/>
                </a:lnTo>
                <a:lnTo>
                  <a:pt x="2358192" y="2724800"/>
                </a:lnTo>
                <a:lnTo>
                  <a:pt x="0" y="272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TextBox 8"/>
          <p:cNvSpPr txBox="1"/>
          <p:nvPr/>
        </p:nvSpPr>
        <p:spPr>
          <a:xfrm>
            <a:off x="1510286" y="990600"/>
            <a:ext cx="3145337" cy="952500"/>
          </a:xfrm>
          <a:prstGeom prst="rect">
            <a:avLst/>
          </a:prstGeom>
        </p:spPr>
        <p:txBody>
          <a:bodyPr lIns="0" tIns="0" rIns="0" bIns="0" rtlCol="0" anchor="t">
            <a:spAutoFit/>
          </a:bodyPr>
          <a:lstStyle/>
          <a:p>
            <a:pPr algn="l">
              <a:lnSpc>
                <a:spcPts val="6600"/>
              </a:lnSpc>
            </a:pPr>
            <a:r>
              <a:rPr lang="en-US" sz="6000" b="1">
                <a:solidFill>
                  <a:srgbClr val="1A3C5C"/>
                </a:solidFill>
                <a:latin typeface="Codec Pro Bold"/>
                <a:ea typeface="Codec Pro Bold"/>
                <a:cs typeface="Codec Pro Bold"/>
                <a:sym typeface="Codec Pro Bold"/>
              </a:rPr>
              <a:t>Agenda</a:t>
            </a:r>
          </a:p>
        </p:txBody>
      </p:sp>
      <p:sp>
        <p:nvSpPr>
          <p:cNvPr id="9" name="TextBox 9"/>
          <p:cNvSpPr txBox="1"/>
          <p:nvPr/>
        </p:nvSpPr>
        <p:spPr>
          <a:xfrm>
            <a:off x="1189959" y="3015885"/>
            <a:ext cx="5487766" cy="3385542"/>
          </a:xfrm>
          <a:prstGeom prst="rect">
            <a:avLst/>
          </a:prstGeom>
        </p:spPr>
        <p:txBody>
          <a:bodyPr lIns="0" tIns="0" rIns="0" bIns="0" rtlCol="0" anchor="t">
            <a:spAutoFit/>
          </a:bodyPr>
          <a:lstStyle/>
          <a:p>
            <a:pPr>
              <a:lnSpc>
                <a:spcPts val="3359"/>
              </a:lnSpc>
            </a:pPr>
            <a:r>
              <a:rPr lang="en-US" sz="2400" dirty="0">
                <a:solidFill>
                  <a:srgbClr val="202020"/>
                </a:solidFill>
                <a:latin typeface="Codec Pro"/>
                <a:ea typeface="Codec Pro"/>
                <a:cs typeface="Codec Pro"/>
                <a:sym typeface="Codec Pro"/>
              </a:rPr>
              <a:t>-SQL — Relationships(ER </a:t>
            </a:r>
            <a:r>
              <a:rPr lang="en-US" sz="2400" dirty="0" err="1">
                <a:solidFill>
                  <a:srgbClr val="202020"/>
                </a:solidFill>
                <a:latin typeface="Codec Pro"/>
                <a:ea typeface="Codec Pro"/>
                <a:cs typeface="Codec Pro"/>
                <a:sym typeface="Codec Pro"/>
              </a:rPr>
              <a:t>Digram</a:t>
            </a:r>
            <a:r>
              <a:rPr lang="en-US" sz="2400" dirty="0">
                <a:solidFill>
                  <a:srgbClr val="202020"/>
                </a:solidFill>
                <a:latin typeface="Codec Pro"/>
                <a:ea typeface="Codec Pro"/>
                <a:cs typeface="Codec Pro"/>
                <a:sym typeface="Codec Pro"/>
              </a:rPr>
              <a:t>).</a:t>
            </a:r>
            <a:endParaRPr lang="ar-EG" sz="2400" dirty="0">
              <a:solidFill>
                <a:srgbClr val="202020"/>
              </a:solidFill>
              <a:latin typeface="Codec Pro"/>
              <a:ea typeface="Codec Pro"/>
              <a:cs typeface="Codec Pro"/>
              <a:sym typeface="Codec Pro"/>
            </a:endParaRPr>
          </a:p>
          <a:p>
            <a:pPr algn="l">
              <a:lnSpc>
                <a:spcPts val="3359"/>
              </a:lnSpc>
            </a:pPr>
            <a:r>
              <a:rPr lang="en-US" sz="2400" dirty="0">
                <a:solidFill>
                  <a:srgbClr val="202020"/>
                </a:solidFill>
                <a:latin typeface="Codec Pro"/>
                <a:ea typeface="Codec Pro"/>
                <a:cs typeface="Codec Pro"/>
                <a:sym typeface="Codec Pro"/>
              </a:rPr>
              <a:t>-SQL — Database Design.</a:t>
            </a:r>
          </a:p>
          <a:p>
            <a:pPr algn="l">
              <a:lnSpc>
                <a:spcPts val="3359"/>
              </a:lnSpc>
            </a:pPr>
            <a:r>
              <a:rPr lang="en-US" sz="2400" dirty="0">
                <a:solidFill>
                  <a:srgbClr val="202020"/>
                </a:solidFill>
                <a:latin typeface="Codec Pro"/>
                <a:ea typeface="Codec Pro"/>
                <a:cs typeface="Codec Pro"/>
                <a:sym typeface="Codec Pro"/>
              </a:rPr>
              <a:t>-Project Overview.</a:t>
            </a:r>
          </a:p>
          <a:p>
            <a:pPr algn="l">
              <a:lnSpc>
                <a:spcPts val="3359"/>
              </a:lnSpc>
            </a:pPr>
            <a:r>
              <a:rPr lang="en-US" sz="2400" dirty="0">
                <a:solidFill>
                  <a:srgbClr val="202020"/>
                </a:solidFill>
                <a:latin typeface="Codec Pro"/>
                <a:ea typeface="Codec Pro"/>
                <a:cs typeface="Codec Pro"/>
                <a:sym typeface="Codec Pro"/>
              </a:rPr>
              <a:t>-Orange — Workflow.</a:t>
            </a:r>
          </a:p>
          <a:p>
            <a:pPr algn="l">
              <a:lnSpc>
                <a:spcPts val="3359"/>
              </a:lnSpc>
            </a:pPr>
            <a:r>
              <a:rPr lang="en-US" sz="2400" dirty="0">
                <a:solidFill>
                  <a:srgbClr val="202020"/>
                </a:solidFill>
                <a:latin typeface="Codec Pro"/>
                <a:ea typeface="Codec Pro"/>
                <a:cs typeface="Codec Pro"/>
                <a:sym typeface="Codec Pro"/>
              </a:rPr>
              <a:t>-Power BI Dashboard.</a:t>
            </a:r>
            <a:endParaRPr lang="ar-EG" sz="2400" dirty="0">
              <a:solidFill>
                <a:srgbClr val="202020"/>
              </a:solidFill>
              <a:latin typeface="Codec Pro"/>
              <a:ea typeface="Codec Pro"/>
              <a:cs typeface="Codec Pro"/>
              <a:sym typeface="Codec Pro"/>
            </a:endParaRPr>
          </a:p>
          <a:p>
            <a:pPr>
              <a:lnSpc>
                <a:spcPts val="3359"/>
              </a:lnSpc>
            </a:pPr>
            <a:r>
              <a:rPr lang="en-US" sz="2400" dirty="0">
                <a:solidFill>
                  <a:srgbClr val="202020"/>
                </a:solidFill>
                <a:latin typeface="Codec Pro"/>
                <a:ea typeface="Codec Pro"/>
                <a:cs typeface="Codec Pro"/>
                <a:sym typeface="Codec Pro"/>
              </a:rPr>
              <a:t>-Python EDA </a:t>
            </a:r>
          </a:p>
          <a:p>
            <a:pPr algn="l">
              <a:lnSpc>
                <a:spcPts val="3359"/>
              </a:lnSpc>
            </a:pPr>
            <a:endParaRPr lang="en-US" sz="2400" dirty="0">
              <a:solidFill>
                <a:srgbClr val="202020"/>
              </a:solidFill>
              <a:latin typeface="Codec Pro"/>
              <a:ea typeface="Codec Pro"/>
              <a:cs typeface="Codec Pro"/>
              <a:sym typeface="Codec Pro"/>
            </a:endParaRPr>
          </a:p>
          <a:p>
            <a:pPr algn="l">
              <a:lnSpc>
                <a:spcPts val="2603"/>
              </a:lnSpc>
              <a:spcBef>
                <a:spcPct val="0"/>
              </a:spcBef>
            </a:pPr>
            <a:endParaRPr lang="en-US" sz="2400" dirty="0">
              <a:solidFill>
                <a:srgbClr val="202020"/>
              </a:solidFill>
              <a:latin typeface="Codec Pro"/>
              <a:ea typeface="Codec Pro"/>
              <a:cs typeface="Codec Pro"/>
              <a:sym typeface="Codec Pr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21811" y="415988"/>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651234" y="7458266"/>
            <a:ext cx="6636856" cy="8704603"/>
            <a:chOff x="0" y="0"/>
            <a:chExt cx="1028223" cy="1348571"/>
          </a:xfrm>
        </p:grpSpPr>
        <p:sp>
          <p:nvSpPr>
            <p:cNvPr id="4" name="Freeform 4"/>
            <p:cNvSpPr/>
            <p:nvPr/>
          </p:nvSpPr>
          <p:spPr>
            <a:xfrm>
              <a:off x="0" y="0"/>
              <a:ext cx="1028223" cy="1348571"/>
            </a:xfrm>
            <a:custGeom>
              <a:avLst/>
              <a:gdLst/>
              <a:ahLst/>
              <a:cxnLst/>
              <a:rect l="l" t="t" r="r" b="b"/>
              <a:pathLst>
                <a:path w="1028223" h="1348571">
                  <a:moveTo>
                    <a:pt x="116650" y="0"/>
                  </a:moveTo>
                  <a:lnTo>
                    <a:pt x="911572" y="0"/>
                  </a:lnTo>
                  <a:cubicBezTo>
                    <a:pt x="975997" y="0"/>
                    <a:pt x="1028223" y="52226"/>
                    <a:pt x="1028223" y="116650"/>
                  </a:cubicBezTo>
                  <a:lnTo>
                    <a:pt x="1028223" y="1231920"/>
                  </a:lnTo>
                  <a:cubicBezTo>
                    <a:pt x="1028223" y="1262858"/>
                    <a:pt x="1015933" y="1292528"/>
                    <a:pt x="994057" y="1314405"/>
                  </a:cubicBezTo>
                  <a:cubicBezTo>
                    <a:pt x="972180" y="1336281"/>
                    <a:pt x="942510" y="1348571"/>
                    <a:pt x="911572" y="1348571"/>
                  </a:cubicBezTo>
                  <a:lnTo>
                    <a:pt x="116650" y="1348571"/>
                  </a:lnTo>
                  <a:cubicBezTo>
                    <a:pt x="85713" y="1348571"/>
                    <a:pt x="56042" y="1336281"/>
                    <a:pt x="34166" y="1314405"/>
                  </a:cubicBezTo>
                  <a:cubicBezTo>
                    <a:pt x="12290" y="1292528"/>
                    <a:pt x="0" y="1262858"/>
                    <a:pt x="0" y="1231920"/>
                  </a:cubicBezTo>
                  <a:lnTo>
                    <a:pt x="0" y="116650"/>
                  </a:lnTo>
                  <a:cubicBezTo>
                    <a:pt x="0" y="85713"/>
                    <a:pt x="12290" y="56042"/>
                    <a:pt x="34166" y="34166"/>
                  </a:cubicBezTo>
                  <a:cubicBezTo>
                    <a:pt x="56042" y="12290"/>
                    <a:pt x="85713" y="0"/>
                    <a:pt x="116650" y="0"/>
                  </a:cubicBezTo>
                  <a:close/>
                </a:path>
              </a:pathLst>
            </a:custGeom>
            <a:blipFill>
              <a:blip r:embed="rId4"/>
              <a:stretch>
                <a:fillRect t="-891" b="-891"/>
              </a:stretch>
            </a:blipFill>
          </p:spPr>
        </p:sp>
      </p:grpSp>
      <p:sp>
        <p:nvSpPr>
          <p:cNvPr id="5" name="Freeform 5"/>
          <p:cNvSpPr/>
          <p:nvPr/>
        </p:nvSpPr>
        <p:spPr>
          <a:xfrm rot="5465508" flipH="1" flipV="1">
            <a:off x="12849455" y="-4626392"/>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5">
              <a:alphaModFix amt="78000"/>
            </a:blip>
            <a:stretch>
              <a:fillRect/>
            </a:stretch>
          </a:blipFill>
        </p:spPr>
      </p:sp>
      <p:sp>
        <p:nvSpPr>
          <p:cNvPr id="6" name="Freeform 6"/>
          <p:cNvSpPr/>
          <p:nvPr/>
        </p:nvSpPr>
        <p:spPr>
          <a:xfrm>
            <a:off x="14311607" y="-2365132"/>
            <a:ext cx="2947693" cy="4114800"/>
          </a:xfrm>
          <a:custGeom>
            <a:avLst/>
            <a:gdLst/>
            <a:ahLst/>
            <a:cxnLst/>
            <a:rect l="l" t="t" r="r" b="b"/>
            <a:pathLst>
              <a:path w="2947693" h="4114800">
                <a:moveTo>
                  <a:pt x="0" y="0"/>
                </a:moveTo>
                <a:lnTo>
                  <a:pt x="2947693" y="0"/>
                </a:lnTo>
                <a:lnTo>
                  <a:pt x="294769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7" name="Group 7"/>
          <p:cNvGrpSpPr/>
          <p:nvPr/>
        </p:nvGrpSpPr>
        <p:grpSpPr>
          <a:xfrm>
            <a:off x="-97986" y="-102870"/>
            <a:ext cx="1126686" cy="10622209"/>
            <a:chOff x="0" y="0"/>
            <a:chExt cx="174553" cy="1645658"/>
          </a:xfrm>
        </p:grpSpPr>
        <p:sp>
          <p:nvSpPr>
            <p:cNvPr id="8" name="Freeform 8"/>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8"/>
              <a:stretch>
                <a:fillRect l="-926365" r="-388693"/>
              </a:stretch>
            </a:blipFill>
          </p:spPr>
        </p:sp>
      </p:grpSp>
      <p:sp>
        <p:nvSpPr>
          <p:cNvPr id="9" name="Freeform 9"/>
          <p:cNvSpPr/>
          <p:nvPr/>
        </p:nvSpPr>
        <p:spPr>
          <a:xfrm>
            <a:off x="1028700" y="1028700"/>
            <a:ext cx="15161159" cy="5849963"/>
          </a:xfrm>
          <a:custGeom>
            <a:avLst/>
            <a:gdLst/>
            <a:ahLst/>
            <a:cxnLst/>
            <a:rect l="l" t="t" r="r" b="b"/>
            <a:pathLst>
              <a:path w="15161159" h="5849963">
                <a:moveTo>
                  <a:pt x="0" y="0"/>
                </a:moveTo>
                <a:lnTo>
                  <a:pt x="15161159" y="0"/>
                </a:lnTo>
                <a:lnTo>
                  <a:pt x="15161159" y="5849963"/>
                </a:lnTo>
                <a:lnTo>
                  <a:pt x="0" y="5849963"/>
                </a:lnTo>
                <a:lnTo>
                  <a:pt x="0" y="0"/>
                </a:lnTo>
                <a:close/>
              </a:path>
            </a:pathLst>
          </a:custGeom>
          <a:blipFill>
            <a:blip r:embed="rId9"/>
            <a:stretch>
              <a:fillRect t="-537" b="-537"/>
            </a:stretch>
          </a:blipFill>
        </p:spPr>
      </p:sp>
      <p:sp>
        <p:nvSpPr>
          <p:cNvPr id="10" name="TextBox 10"/>
          <p:cNvSpPr txBox="1"/>
          <p:nvPr/>
        </p:nvSpPr>
        <p:spPr>
          <a:xfrm>
            <a:off x="2362790" y="222313"/>
            <a:ext cx="12492978" cy="952500"/>
          </a:xfrm>
          <a:prstGeom prst="rect">
            <a:avLst/>
          </a:prstGeom>
        </p:spPr>
        <p:txBody>
          <a:bodyPr lIns="0" tIns="0" rIns="0" bIns="0" rtlCol="0" anchor="t">
            <a:spAutoFit/>
          </a:bodyPr>
          <a:lstStyle/>
          <a:p>
            <a:pPr algn="l">
              <a:lnSpc>
                <a:spcPts val="6600"/>
              </a:lnSpc>
            </a:pPr>
            <a:r>
              <a:rPr lang="en-US" sz="6000" b="1" u="sng">
                <a:solidFill>
                  <a:srgbClr val="1A3C5C"/>
                </a:solidFill>
                <a:latin typeface="Codec Pro Bold"/>
                <a:ea typeface="Codec Pro Bold"/>
                <a:cs typeface="Codec Pro Bold"/>
                <a:sym typeface="Codec Pro Bold"/>
                <a:hlinkClick r:id="rId10" tooltip="https://dbdiagram.io/d/69b07015cf54053b6f538fc6"/>
              </a:rPr>
              <a:t>SQL — Relationships(ER Digram).</a:t>
            </a:r>
          </a:p>
        </p:txBody>
      </p:sp>
      <p:sp>
        <p:nvSpPr>
          <p:cNvPr id="11" name="TextBox 11"/>
          <p:cNvSpPr txBox="1"/>
          <p:nvPr/>
        </p:nvSpPr>
        <p:spPr>
          <a:xfrm>
            <a:off x="1123860" y="6831038"/>
            <a:ext cx="10432124" cy="4485843"/>
          </a:xfrm>
          <a:prstGeom prst="rect">
            <a:avLst/>
          </a:prstGeom>
        </p:spPr>
        <p:txBody>
          <a:bodyPr lIns="0" tIns="0" rIns="0" bIns="0" rtlCol="0" anchor="t">
            <a:spAutoFit/>
          </a:bodyPr>
          <a:lstStyle/>
          <a:p>
            <a:pPr algn="l">
              <a:lnSpc>
                <a:spcPts val="1772"/>
              </a:lnSpc>
            </a:pPr>
            <a:r>
              <a:rPr lang="en-US" sz="1265" dirty="0">
                <a:solidFill>
                  <a:srgbClr val="202020"/>
                </a:solidFill>
                <a:latin typeface="Codec Pro"/>
                <a:ea typeface="Codec Pro"/>
                <a:cs typeface="Codec Pro"/>
                <a:sym typeface="Codec Pro"/>
              </a:rPr>
              <a:t>This diagram represents a fully normalized university database built on 12 relational tables covering all aspects of academic operations — from registering departments, programs, instructors, and advisors, to enrolling students in courses and sections via the Enrollment table, through to recording grades and attendance for each student per course. All tables are linked through foreign keys to ensure referential integrity, with a dedicated Prerequisites table to enforce course requirements and a Semesters table to organize academic terms.</a:t>
            </a:r>
          </a:p>
          <a:p>
            <a:pPr algn="l">
              <a:lnSpc>
                <a:spcPts val="1772"/>
              </a:lnSpc>
            </a:pPr>
            <a:r>
              <a:rPr lang="en-US" sz="1265" dirty="0">
                <a:solidFill>
                  <a:srgbClr val="336073"/>
                </a:solidFill>
                <a:latin typeface="Codec Pro"/>
                <a:ea typeface="Codec Pro"/>
                <a:cs typeface="Codec Pro"/>
                <a:sym typeface="Codec Pro"/>
              </a:rPr>
              <a:t>Key Highlights</a:t>
            </a:r>
          </a:p>
          <a:p>
            <a:pPr marL="273299" lvl="1" indent="-136650" algn="l">
              <a:lnSpc>
                <a:spcPts val="1772"/>
              </a:lnSpc>
              <a:buFont typeface="Arial"/>
              <a:buChar char="•"/>
            </a:pPr>
            <a:r>
              <a:rPr lang="en-US" sz="1265">
                <a:solidFill>
                  <a:srgbClr val="202020"/>
                </a:solidFill>
                <a:latin typeface="Codec Pro"/>
                <a:ea typeface="Codec Pro"/>
                <a:cs typeface="Codec Pro"/>
                <a:sym typeface="Codec Pro"/>
              </a:rPr>
              <a:t> 12 tables </a:t>
            </a:r>
            <a:r>
              <a:rPr lang="en-US" sz="1265" dirty="0">
                <a:solidFill>
                  <a:srgbClr val="202020"/>
                </a:solidFill>
                <a:latin typeface="Codec Pro"/>
                <a:ea typeface="Codec Pro"/>
                <a:cs typeface="Codec Pro"/>
                <a:sym typeface="Codec Pro"/>
              </a:rPr>
              <a:t>linked via foreign keys — fully relational structure</a:t>
            </a:r>
          </a:p>
          <a:p>
            <a:pPr marL="273299" lvl="1" indent="-136650" algn="l">
              <a:lnSpc>
                <a:spcPts val="1772"/>
              </a:lnSpc>
              <a:buFont typeface="Arial"/>
              <a:buChar char="•"/>
            </a:pPr>
            <a:r>
              <a:rPr lang="en-US" sz="1265" dirty="0">
                <a:solidFill>
                  <a:srgbClr val="202020"/>
                </a:solidFill>
                <a:latin typeface="Codec Pro"/>
                <a:ea typeface="Codec Pro"/>
                <a:cs typeface="Codec Pro"/>
                <a:sym typeface="Codec Pro"/>
              </a:rPr>
              <a:t> Students is the core entity — connected to </a:t>
            </a:r>
            <a:r>
              <a:rPr lang="en-US" sz="1265" dirty="0" err="1">
                <a:solidFill>
                  <a:srgbClr val="202020"/>
                </a:solidFill>
                <a:latin typeface="Codec Pro"/>
                <a:ea typeface="Codec Pro"/>
                <a:cs typeface="Codec Pro"/>
                <a:sym typeface="Codec Pro"/>
              </a:rPr>
              <a:t>Programme</a:t>
            </a:r>
            <a:r>
              <a:rPr lang="en-US" sz="1265" dirty="0">
                <a:solidFill>
                  <a:srgbClr val="202020"/>
                </a:solidFill>
                <a:latin typeface="Codec Pro"/>
                <a:ea typeface="Codec Pro"/>
                <a:cs typeface="Codec Pro"/>
                <a:sym typeface="Codec Pro"/>
              </a:rPr>
              <a:t> and Advisors</a:t>
            </a:r>
          </a:p>
          <a:p>
            <a:pPr marL="273299" lvl="1" indent="-136650" algn="l">
              <a:lnSpc>
                <a:spcPts val="1772"/>
              </a:lnSpc>
              <a:buFont typeface="Arial"/>
              <a:buChar char="•"/>
            </a:pPr>
            <a:r>
              <a:rPr lang="en-US" sz="1265" dirty="0">
                <a:solidFill>
                  <a:srgbClr val="202020"/>
                </a:solidFill>
                <a:latin typeface="Codec Pro"/>
                <a:ea typeface="Codec Pro"/>
                <a:cs typeface="Codec Pro"/>
                <a:sym typeface="Codec Pro"/>
              </a:rPr>
              <a:t> Enrollment bridges Students, Courses, Sections, and Semesters</a:t>
            </a:r>
          </a:p>
          <a:p>
            <a:pPr marL="273299" lvl="1" indent="-136650" algn="l">
              <a:lnSpc>
                <a:spcPts val="1772"/>
              </a:lnSpc>
              <a:buFont typeface="Arial"/>
              <a:buChar char="•"/>
            </a:pPr>
            <a:r>
              <a:rPr lang="en-US" sz="1265" dirty="0">
                <a:solidFill>
                  <a:srgbClr val="202020"/>
                </a:solidFill>
                <a:latin typeface="Codec Pro"/>
                <a:ea typeface="Codec Pro"/>
                <a:cs typeface="Codec Pro"/>
                <a:sym typeface="Codec Pro"/>
              </a:rPr>
              <a:t> Grades and Attendance are tied directly to each enrollment record</a:t>
            </a:r>
          </a:p>
          <a:p>
            <a:pPr marL="273299" lvl="1" indent="-136650" algn="l">
              <a:lnSpc>
                <a:spcPts val="1772"/>
              </a:lnSpc>
              <a:buFont typeface="Arial"/>
              <a:buChar char="•"/>
            </a:pPr>
            <a:r>
              <a:rPr lang="en-US" sz="1265" dirty="0">
                <a:solidFill>
                  <a:srgbClr val="202020"/>
                </a:solidFill>
                <a:latin typeface="Codec Pro"/>
                <a:ea typeface="Codec Pro"/>
                <a:cs typeface="Codec Pro"/>
                <a:sym typeface="Codec Pro"/>
              </a:rPr>
              <a:t> Prerequisites enforces course eligibility rules before registration</a:t>
            </a:r>
          </a:p>
          <a:p>
            <a:pPr algn="l">
              <a:lnSpc>
                <a:spcPts val="2179"/>
              </a:lnSpc>
            </a:pPr>
            <a:endParaRPr lang="en-US" sz="1265" dirty="0">
              <a:solidFill>
                <a:srgbClr val="202020"/>
              </a:solidFill>
              <a:latin typeface="Codec Pro"/>
              <a:ea typeface="Codec Pro"/>
              <a:cs typeface="Codec Pro"/>
              <a:sym typeface="Codec Pro"/>
            </a:endParaRPr>
          </a:p>
          <a:p>
            <a:pPr algn="l">
              <a:lnSpc>
                <a:spcPts val="2179"/>
              </a:lnSpc>
            </a:pPr>
            <a:endParaRPr lang="en-US" sz="1265" dirty="0">
              <a:solidFill>
                <a:srgbClr val="202020"/>
              </a:solidFill>
              <a:latin typeface="Codec Pro"/>
              <a:ea typeface="Codec Pro"/>
              <a:cs typeface="Codec Pro"/>
              <a:sym typeface="Codec Pro"/>
            </a:endParaRPr>
          </a:p>
          <a:p>
            <a:pPr algn="l">
              <a:lnSpc>
                <a:spcPts val="2179"/>
              </a:lnSpc>
            </a:pPr>
            <a:endParaRPr lang="en-US" sz="1265" dirty="0">
              <a:solidFill>
                <a:srgbClr val="202020"/>
              </a:solidFill>
              <a:latin typeface="Codec Pro"/>
              <a:ea typeface="Codec Pro"/>
              <a:cs typeface="Codec Pro"/>
              <a:sym typeface="Codec Pro"/>
            </a:endParaRPr>
          </a:p>
          <a:p>
            <a:pPr algn="l">
              <a:lnSpc>
                <a:spcPts val="2179"/>
              </a:lnSpc>
            </a:pPr>
            <a:endParaRPr lang="en-US" sz="1265" dirty="0">
              <a:solidFill>
                <a:srgbClr val="202020"/>
              </a:solidFill>
              <a:latin typeface="Codec Pro"/>
              <a:ea typeface="Codec Pro"/>
              <a:cs typeface="Codec Pro"/>
              <a:sym typeface="Codec Pro"/>
            </a:endParaRPr>
          </a:p>
          <a:p>
            <a:pPr algn="l">
              <a:lnSpc>
                <a:spcPts val="2179"/>
              </a:lnSpc>
            </a:pPr>
            <a:endParaRPr lang="en-US" sz="1265" dirty="0">
              <a:solidFill>
                <a:srgbClr val="202020"/>
              </a:solidFill>
              <a:latin typeface="Codec Pro"/>
              <a:ea typeface="Codec Pro"/>
              <a:cs typeface="Codec Pro"/>
              <a:sym typeface="Codec Pro"/>
            </a:endParaRPr>
          </a:p>
          <a:p>
            <a:pPr algn="l">
              <a:lnSpc>
                <a:spcPts val="2179"/>
              </a:lnSpc>
            </a:pPr>
            <a:endParaRPr lang="en-US" sz="1265" dirty="0">
              <a:solidFill>
                <a:srgbClr val="202020"/>
              </a:solidFill>
              <a:latin typeface="Codec Pro"/>
              <a:ea typeface="Codec Pro"/>
              <a:cs typeface="Codec Pro"/>
              <a:sym typeface="Codec Pro"/>
            </a:endParaRPr>
          </a:p>
          <a:p>
            <a:pPr algn="l">
              <a:lnSpc>
                <a:spcPts val="2179"/>
              </a:lnSpc>
              <a:spcBef>
                <a:spcPct val="0"/>
              </a:spcBef>
            </a:pPr>
            <a:endParaRPr lang="en-US" sz="1265" dirty="0">
              <a:solidFill>
                <a:srgbClr val="202020"/>
              </a:solidFill>
              <a:latin typeface="Codec Pro"/>
              <a:ea typeface="Codec Pro"/>
              <a:cs typeface="Codec Pro"/>
              <a:sym typeface="Codec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21811" y="415988"/>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3454249" y="2186909"/>
            <a:ext cx="4833751" cy="6339731"/>
            <a:chOff x="0" y="0"/>
            <a:chExt cx="1028223" cy="1348571"/>
          </a:xfrm>
        </p:grpSpPr>
        <p:sp>
          <p:nvSpPr>
            <p:cNvPr id="4" name="Freeform 4"/>
            <p:cNvSpPr/>
            <p:nvPr/>
          </p:nvSpPr>
          <p:spPr>
            <a:xfrm>
              <a:off x="0" y="0"/>
              <a:ext cx="1028223" cy="1348571"/>
            </a:xfrm>
            <a:custGeom>
              <a:avLst/>
              <a:gdLst/>
              <a:ahLst/>
              <a:cxnLst/>
              <a:rect l="l" t="t" r="r" b="b"/>
              <a:pathLst>
                <a:path w="1028223" h="1348571">
                  <a:moveTo>
                    <a:pt x="160164" y="0"/>
                  </a:moveTo>
                  <a:lnTo>
                    <a:pt x="868059" y="0"/>
                  </a:lnTo>
                  <a:cubicBezTo>
                    <a:pt x="956515" y="0"/>
                    <a:pt x="1028223" y="71708"/>
                    <a:pt x="1028223" y="160164"/>
                  </a:cubicBezTo>
                  <a:lnTo>
                    <a:pt x="1028223" y="1188407"/>
                  </a:lnTo>
                  <a:cubicBezTo>
                    <a:pt x="1028223" y="1230885"/>
                    <a:pt x="1011348" y="1271623"/>
                    <a:pt x="981312" y="1301660"/>
                  </a:cubicBezTo>
                  <a:cubicBezTo>
                    <a:pt x="951275" y="1331696"/>
                    <a:pt x="910537" y="1348571"/>
                    <a:pt x="868059" y="1348571"/>
                  </a:cubicBezTo>
                  <a:lnTo>
                    <a:pt x="160164" y="1348571"/>
                  </a:lnTo>
                  <a:cubicBezTo>
                    <a:pt x="71708" y="1348571"/>
                    <a:pt x="0" y="1276863"/>
                    <a:pt x="0" y="1188407"/>
                  </a:cubicBezTo>
                  <a:lnTo>
                    <a:pt x="0" y="160164"/>
                  </a:lnTo>
                  <a:cubicBezTo>
                    <a:pt x="0" y="71708"/>
                    <a:pt x="71708" y="0"/>
                    <a:pt x="160164" y="0"/>
                  </a:cubicBezTo>
                  <a:close/>
                </a:path>
              </a:pathLst>
            </a:custGeom>
            <a:blipFill>
              <a:blip r:embed="rId4"/>
              <a:stretch>
                <a:fillRect t="-891" b="-891"/>
              </a:stretch>
            </a:blipFill>
          </p:spPr>
        </p:sp>
      </p:grpSp>
      <p:sp>
        <p:nvSpPr>
          <p:cNvPr id="5" name="Freeform 5"/>
          <p:cNvSpPr/>
          <p:nvPr/>
        </p:nvSpPr>
        <p:spPr>
          <a:xfrm rot="5465508" flipH="1" flipV="1">
            <a:off x="12849455" y="-4626392"/>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5">
              <a:alphaModFix amt="78000"/>
            </a:blip>
            <a:stretch>
              <a:fillRect/>
            </a:stretch>
          </a:blipFill>
        </p:spPr>
      </p:sp>
      <p:sp>
        <p:nvSpPr>
          <p:cNvPr id="6" name="Freeform 6"/>
          <p:cNvSpPr/>
          <p:nvPr/>
        </p:nvSpPr>
        <p:spPr>
          <a:xfrm>
            <a:off x="14311607" y="-2365132"/>
            <a:ext cx="2947693" cy="4114800"/>
          </a:xfrm>
          <a:custGeom>
            <a:avLst/>
            <a:gdLst/>
            <a:ahLst/>
            <a:cxnLst/>
            <a:rect l="l" t="t" r="r" b="b"/>
            <a:pathLst>
              <a:path w="2947693" h="4114800">
                <a:moveTo>
                  <a:pt x="0" y="0"/>
                </a:moveTo>
                <a:lnTo>
                  <a:pt x="2947693" y="0"/>
                </a:lnTo>
                <a:lnTo>
                  <a:pt x="294769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7" name="Group 7"/>
          <p:cNvGrpSpPr/>
          <p:nvPr/>
        </p:nvGrpSpPr>
        <p:grpSpPr>
          <a:xfrm>
            <a:off x="-97986" y="-102870"/>
            <a:ext cx="1126686" cy="10622209"/>
            <a:chOff x="0" y="0"/>
            <a:chExt cx="174553" cy="1645658"/>
          </a:xfrm>
        </p:grpSpPr>
        <p:sp>
          <p:nvSpPr>
            <p:cNvPr id="8" name="Freeform 8"/>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8"/>
              <a:stretch>
                <a:fillRect l="-926365" r="-388693"/>
              </a:stretch>
            </a:blipFill>
          </p:spPr>
        </p:sp>
      </p:grpSp>
      <p:sp>
        <p:nvSpPr>
          <p:cNvPr id="9" name="Freeform 9"/>
          <p:cNvSpPr/>
          <p:nvPr/>
        </p:nvSpPr>
        <p:spPr>
          <a:xfrm>
            <a:off x="1028700" y="1628720"/>
            <a:ext cx="6569470" cy="8658280"/>
          </a:xfrm>
          <a:custGeom>
            <a:avLst/>
            <a:gdLst/>
            <a:ahLst/>
            <a:cxnLst/>
            <a:rect l="l" t="t" r="r" b="b"/>
            <a:pathLst>
              <a:path w="6569470" h="8658280">
                <a:moveTo>
                  <a:pt x="0" y="0"/>
                </a:moveTo>
                <a:lnTo>
                  <a:pt x="6569470" y="0"/>
                </a:lnTo>
                <a:lnTo>
                  <a:pt x="6569470" y="8658280"/>
                </a:lnTo>
                <a:lnTo>
                  <a:pt x="0" y="8658280"/>
                </a:lnTo>
                <a:lnTo>
                  <a:pt x="0" y="0"/>
                </a:lnTo>
                <a:close/>
              </a:path>
            </a:pathLst>
          </a:custGeom>
          <a:blipFill>
            <a:blip r:embed="rId9"/>
            <a:stretch>
              <a:fillRect/>
            </a:stretch>
          </a:blipFill>
        </p:spPr>
      </p:sp>
      <p:sp>
        <p:nvSpPr>
          <p:cNvPr id="10" name="TextBox 10"/>
          <p:cNvSpPr txBox="1"/>
          <p:nvPr/>
        </p:nvSpPr>
        <p:spPr>
          <a:xfrm>
            <a:off x="3292475" y="222344"/>
            <a:ext cx="9706381" cy="952500"/>
          </a:xfrm>
          <a:prstGeom prst="rect">
            <a:avLst/>
          </a:prstGeom>
        </p:spPr>
        <p:txBody>
          <a:bodyPr lIns="0" tIns="0" rIns="0" bIns="0" rtlCol="0" anchor="t">
            <a:spAutoFit/>
          </a:bodyPr>
          <a:lstStyle/>
          <a:p>
            <a:pPr algn="l">
              <a:lnSpc>
                <a:spcPts val="6600"/>
              </a:lnSpc>
            </a:pPr>
            <a:r>
              <a:rPr lang="en-US" sz="6000" b="1" u="sng">
                <a:solidFill>
                  <a:srgbClr val="1A3C5C"/>
                </a:solidFill>
                <a:latin typeface="Codec Pro Bold"/>
                <a:ea typeface="Codec Pro Bold"/>
                <a:cs typeface="Codec Pro Bold"/>
                <a:sym typeface="Codec Pro Bold"/>
                <a:hlinkClick r:id="rId10" tooltip="https://drive.google.com/file/d/1-U5HDeJuQdfPYapWFKvK1SXiO8gnuQhK/view?usp=sharing"/>
              </a:rPr>
              <a:t>-SQL — Database Design.</a:t>
            </a:r>
          </a:p>
        </p:txBody>
      </p:sp>
      <p:sp>
        <p:nvSpPr>
          <p:cNvPr id="11" name="TextBox 11"/>
          <p:cNvSpPr txBox="1"/>
          <p:nvPr/>
        </p:nvSpPr>
        <p:spPr>
          <a:xfrm>
            <a:off x="7498232" y="8450441"/>
            <a:ext cx="6607922" cy="2555408"/>
          </a:xfrm>
          <a:prstGeom prst="rect">
            <a:avLst/>
          </a:prstGeom>
        </p:spPr>
        <p:txBody>
          <a:bodyPr lIns="0" tIns="0" rIns="0" bIns="0" rtlCol="0" anchor="t">
            <a:spAutoFit/>
          </a:bodyPr>
          <a:lstStyle/>
          <a:p>
            <a:pPr algn="l">
              <a:lnSpc>
                <a:spcPts val="3073"/>
              </a:lnSpc>
            </a:pPr>
            <a:r>
              <a:rPr lang="en-US" sz="2195" b="1">
                <a:solidFill>
                  <a:srgbClr val="000000"/>
                </a:solidFill>
                <a:latin typeface="Codec Pro Bold"/>
                <a:ea typeface="Codec Pro Bold"/>
                <a:cs typeface="Codec Pro Bold"/>
                <a:sym typeface="Codec Pro Bold"/>
              </a:rPr>
              <a:t>This code represents the first part of creating the UniversityDB database tables.</a:t>
            </a:r>
          </a:p>
          <a:p>
            <a:pPr algn="l">
              <a:lnSpc>
                <a:spcPts val="973"/>
              </a:lnSpc>
            </a:pPr>
            <a:endParaRPr lang="en-US" sz="2195" b="1">
              <a:solidFill>
                <a:srgbClr val="000000"/>
              </a:solidFill>
              <a:latin typeface="Codec Pro Bold"/>
              <a:ea typeface="Codec Pro Bold"/>
              <a:cs typeface="Codec Pro Bold"/>
              <a:sym typeface="Codec Pro Bold"/>
            </a:endParaRPr>
          </a:p>
          <a:p>
            <a:pPr algn="l">
              <a:lnSpc>
                <a:spcPts val="973"/>
              </a:lnSpc>
            </a:pPr>
            <a:endParaRPr lang="en-US" sz="2195" b="1">
              <a:solidFill>
                <a:srgbClr val="000000"/>
              </a:solidFill>
              <a:latin typeface="Codec Pro Bold"/>
              <a:ea typeface="Codec Pro Bold"/>
              <a:cs typeface="Codec Pro Bold"/>
              <a:sym typeface="Codec Pro Bold"/>
            </a:endParaRPr>
          </a:p>
          <a:p>
            <a:pPr algn="l">
              <a:lnSpc>
                <a:spcPts val="973"/>
              </a:lnSpc>
            </a:pPr>
            <a:endParaRPr lang="en-US" sz="2195" b="1">
              <a:solidFill>
                <a:srgbClr val="000000"/>
              </a:solidFill>
              <a:latin typeface="Codec Pro Bold"/>
              <a:ea typeface="Codec Pro Bold"/>
              <a:cs typeface="Codec Pro Bold"/>
              <a:sym typeface="Codec Pro Bold"/>
            </a:endParaRPr>
          </a:p>
          <a:p>
            <a:pPr algn="l">
              <a:lnSpc>
                <a:spcPts val="973"/>
              </a:lnSpc>
            </a:pPr>
            <a:endParaRPr lang="en-US" sz="2195" b="1">
              <a:solidFill>
                <a:srgbClr val="000000"/>
              </a:solidFill>
              <a:latin typeface="Codec Pro Bold"/>
              <a:ea typeface="Codec Pro Bold"/>
              <a:cs typeface="Codec Pro Bold"/>
              <a:sym typeface="Codec Pro Bold"/>
            </a:endParaRPr>
          </a:p>
          <a:p>
            <a:pPr algn="l">
              <a:lnSpc>
                <a:spcPts val="973"/>
              </a:lnSpc>
            </a:pPr>
            <a:endParaRPr lang="en-US" sz="2195" b="1">
              <a:solidFill>
                <a:srgbClr val="000000"/>
              </a:solidFill>
              <a:latin typeface="Codec Pro Bold"/>
              <a:ea typeface="Codec Pro Bold"/>
              <a:cs typeface="Codec Pro Bold"/>
              <a:sym typeface="Codec Pro Bold"/>
            </a:endParaRPr>
          </a:p>
          <a:p>
            <a:pPr algn="l">
              <a:lnSpc>
                <a:spcPts val="973"/>
              </a:lnSpc>
            </a:pPr>
            <a:endParaRPr lang="en-US" sz="2195" b="1">
              <a:solidFill>
                <a:srgbClr val="000000"/>
              </a:solidFill>
              <a:latin typeface="Codec Pro Bold"/>
              <a:ea typeface="Codec Pro Bold"/>
              <a:cs typeface="Codec Pro Bold"/>
              <a:sym typeface="Codec Pro Bold"/>
            </a:endParaRPr>
          </a:p>
          <a:p>
            <a:pPr algn="l">
              <a:lnSpc>
                <a:spcPts val="1197"/>
              </a:lnSpc>
            </a:pPr>
            <a:endParaRPr lang="en-US" sz="2195" b="1">
              <a:solidFill>
                <a:srgbClr val="000000"/>
              </a:solidFill>
              <a:latin typeface="Codec Pro Bold"/>
              <a:ea typeface="Codec Pro Bold"/>
              <a:cs typeface="Codec Pro Bold"/>
              <a:sym typeface="Codec Pro Bold"/>
            </a:endParaRPr>
          </a:p>
          <a:p>
            <a:pPr algn="l">
              <a:lnSpc>
                <a:spcPts val="1197"/>
              </a:lnSpc>
            </a:pPr>
            <a:endParaRPr lang="en-US" sz="2195" b="1">
              <a:solidFill>
                <a:srgbClr val="000000"/>
              </a:solidFill>
              <a:latin typeface="Codec Pro Bold"/>
              <a:ea typeface="Codec Pro Bold"/>
              <a:cs typeface="Codec Pro Bold"/>
              <a:sym typeface="Codec Pro Bold"/>
            </a:endParaRPr>
          </a:p>
          <a:p>
            <a:pPr algn="l">
              <a:lnSpc>
                <a:spcPts val="1197"/>
              </a:lnSpc>
            </a:pPr>
            <a:endParaRPr lang="en-US" sz="2195" b="1">
              <a:solidFill>
                <a:srgbClr val="000000"/>
              </a:solidFill>
              <a:latin typeface="Codec Pro Bold"/>
              <a:ea typeface="Codec Pro Bold"/>
              <a:cs typeface="Codec Pro Bold"/>
              <a:sym typeface="Codec Pro Bold"/>
            </a:endParaRPr>
          </a:p>
          <a:p>
            <a:pPr algn="l">
              <a:lnSpc>
                <a:spcPts val="1197"/>
              </a:lnSpc>
            </a:pPr>
            <a:endParaRPr lang="en-US" sz="2195" b="1">
              <a:solidFill>
                <a:srgbClr val="000000"/>
              </a:solidFill>
              <a:latin typeface="Codec Pro Bold"/>
              <a:ea typeface="Codec Pro Bold"/>
              <a:cs typeface="Codec Pro Bold"/>
              <a:sym typeface="Codec Pro Bold"/>
            </a:endParaRPr>
          </a:p>
          <a:p>
            <a:pPr algn="l">
              <a:lnSpc>
                <a:spcPts val="1197"/>
              </a:lnSpc>
            </a:pPr>
            <a:endParaRPr lang="en-US" sz="2195" b="1">
              <a:solidFill>
                <a:srgbClr val="000000"/>
              </a:solidFill>
              <a:latin typeface="Codec Pro Bold"/>
              <a:ea typeface="Codec Pro Bold"/>
              <a:cs typeface="Codec Pro Bold"/>
              <a:sym typeface="Codec Pro Bold"/>
            </a:endParaRPr>
          </a:p>
          <a:p>
            <a:pPr algn="l">
              <a:lnSpc>
                <a:spcPts val="1197"/>
              </a:lnSpc>
            </a:pPr>
            <a:endParaRPr lang="en-US" sz="2195" b="1">
              <a:solidFill>
                <a:srgbClr val="000000"/>
              </a:solidFill>
              <a:latin typeface="Codec Pro Bold"/>
              <a:ea typeface="Codec Pro Bold"/>
              <a:cs typeface="Codec Pro Bold"/>
              <a:sym typeface="Codec Pro Bold"/>
            </a:endParaRPr>
          </a:p>
          <a:p>
            <a:pPr algn="l">
              <a:lnSpc>
                <a:spcPts val="1197"/>
              </a:lnSpc>
              <a:spcBef>
                <a:spcPct val="0"/>
              </a:spcBef>
            </a:pPr>
            <a:endParaRPr lang="en-US" sz="2195" b="1">
              <a:solidFill>
                <a:srgbClr val="000000"/>
              </a:solidFill>
              <a:latin typeface="Codec Pro Bold"/>
              <a:ea typeface="Codec Pro Bold"/>
              <a:cs typeface="Codec Pro Bold"/>
              <a:sym typeface="Codec Pro Bold"/>
            </a:endParaRPr>
          </a:p>
        </p:txBody>
      </p:sp>
      <p:pic>
        <p:nvPicPr>
          <p:cNvPr id="13" name="Picture 12">
            <a:extLst>
              <a:ext uri="{FF2B5EF4-FFF2-40B4-BE49-F238E27FC236}">
                <a16:creationId xmlns:a16="http://schemas.microsoft.com/office/drawing/2014/main" id="{5FCE215C-6AA8-4A8C-987B-927391CD38DE}"/>
              </a:ext>
            </a:extLst>
          </p:cNvPr>
          <p:cNvPicPr>
            <a:picLocks noChangeAspect="1"/>
          </p:cNvPicPr>
          <p:nvPr/>
        </p:nvPicPr>
        <p:blipFill>
          <a:blip r:embed="rId11"/>
          <a:stretch>
            <a:fillRect/>
          </a:stretch>
        </p:blipFill>
        <p:spPr>
          <a:xfrm>
            <a:off x="8298548" y="2429884"/>
            <a:ext cx="4455323" cy="54385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8225" y="1028700"/>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3215549" y="6058156"/>
            <a:ext cx="7848780" cy="7891826"/>
          </a:xfrm>
          <a:custGeom>
            <a:avLst/>
            <a:gdLst/>
            <a:ahLst/>
            <a:cxnLst/>
            <a:rect l="l" t="t" r="r" b="b"/>
            <a:pathLst>
              <a:path w="7848780" h="7891826">
                <a:moveTo>
                  <a:pt x="7848779" y="0"/>
                </a:moveTo>
                <a:lnTo>
                  <a:pt x="0" y="0"/>
                </a:lnTo>
                <a:lnTo>
                  <a:pt x="0" y="7891826"/>
                </a:lnTo>
                <a:lnTo>
                  <a:pt x="7848779" y="7891826"/>
                </a:lnTo>
                <a:lnTo>
                  <a:pt x="7848779" y="0"/>
                </a:lnTo>
                <a:close/>
              </a:path>
            </a:pathLst>
          </a:custGeom>
          <a:blipFill>
            <a:blip r:embed="rId4"/>
            <a:stretch>
              <a:fillRect/>
            </a:stretch>
          </a:blipFill>
        </p:spPr>
      </p:sp>
      <p:sp>
        <p:nvSpPr>
          <p:cNvPr id="4" name="Freeform 4"/>
          <p:cNvSpPr/>
          <p:nvPr/>
        </p:nvSpPr>
        <p:spPr>
          <a:xfrm rot="5465508" flipH="1" flipV="1">
            <a:off x="4356947" y="-5658746"/>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4">
              <a:alphaModFix amt="78000"/>
            </a:blip>
            <a:stretch>
              <a:fillRect/>
            </a:stretch>
          </a:blipFill>
        </p:spPr>
      </p:sp>
      <p:sp>
        <p:nvSpPr>
          <p:cNvPr id="5" name="Freeform 5"/>
          <p:cNvSpPr/>
          <p:nvPr/>
        </p:nvSpPr>
        <p:spPr>
          <a:xfrm flipV="1">
            <a:off x="15280844" y="36497"/>
            <a:ext cx="1978456" cy="2286031"/>
          </a:xfrm>
          <a:custGeom>
            <a:avLst/>
            <a:gdLst/>
            <a:ahLst/>
            <a:cxnLst/>
            <a:rect l="l" t="t" r="r" b="b"/>
            <a:pathLst>
              <a:path w="1978456" h="2286031">
                <a:moveTo>
                  <a:pt x="0" y="2286031"/>
                </a:moveTo>
                <a:lnTo>
                  <a:pt x="1978456" y="2286031"/>
                </a:lnTo>
                <a:lnTo>
                  <a:pt x="1978456" y="0"/>
                </a:lnTo>
                <a:lnTo>
                  <a:pt x="0" y="0"/>
                </a:lnTo>
                <a:lnTo>
                  <a:pt x="0" y="2286031"/>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17259300" y="-102870"/>
            <a:ext cx="1126686" cy="10622209"/>
            <a:chOff x="0" y="0"/>
            <a:chExt cx="174553" cy="1645658"/>
          </a:xfrm>
        </p:grpSpPr>
        <p:sp>
          <p:nvSpPr>
            <p:cNvPr id="7" name="Freeform 7"/>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7"/>
              <a:stretch>
                <a:fillRect l="-657529" r="-657529"/>
              </a:stretch>
            </a:blipFill>
          </p:spPr>
        </p:sp>
      </p:grpSp>
      <p:sp>
        <p:nvSpPr>
          <p:cNvPr id="8" name="Freeform 8"/>
          <p:cNvSpPr/>
          <p:nvPr/>
        </p:nvSpPr>
        <p:spPr>
          <a:xfrm>
            <a:off x="1699270" y="2631472"/>
            <a:ext cx="4763786" cy="4572429"/>
          </a:xfrm>
          <a:custGeom>
            <a:avLst/>
            <a:gdLst/>
            <a:ahLst/>
            <a:cxnLst/>
            <a:rect l="l" t="t" r="r" b="b"/>
            <a:pathLst>
              <a:path w="4763786" h="4572429">
                <a:moveTo>
                  <a:pt x="0" y="0"/>
                </a:moveTo>
                <a:lnTo>
                  <a:pt x="4763786" y="0"/>
                </a:lnTo>
                <a:lnTo>
                  <a:pt x="4763786" y="4572428"/>
                </a:lnTo>
                <a:lnTo>
                  <a:pt x="0" y="4572428"/>
                </a:lnTo>
                <a:lnTo>
                  <a:pt x="0" y="0"/>
                </a:lnTo>
                <a:close/>
              </a:path>
            </a:pathLst>
          </a:custGeom>
          <a:blipFill>
            <a:blip r:embed="rId8"/>
            <a:stretch>
              <a:fillRect r="-78573"/>
            </a:stretch>
          </a:blipFill>
        </p:spPr>
      </p:sp>
      <p:sp>
        <p:nvSpPr>
          <p:cNvPr id="9" name="Freeform 9"/>
          <p:cNvSpPr/>
          <p:nvPr/>
        </p:nvSpPr>
        <p:spPr>
          <a:xfrm>
            <a:off x="9550012" y="2631472"/>
            <a:ext cx="5126581" cy="4572429"/>
          </a:xfrm>
          <a:custGeom>
            <a:avLst/>
            <a:gdLst/>
            <a:ahLst/>
            <a:cxnLst/>
            <a:rect l="l" t="t" r="r" b="b"/>
            <a:pathLst>
              <a:path w="5126581" h="4572429">
                <a:moveTo>
                  <a:pt x="0" y="0"/>
                </a:moveTo>
                <a:lnTo>
                  <a:pt x="5126581" y="0"/>
                </a:lnTo>
                <a:lnTo>
                  <a:pt x="5126581" y="4572428"/>
                </a:lnTo>
                <a:lnTo>
                  <a:pt x="0" y="4572428"/>
                </a:lnTo>
                <a:lnTo>
                  <a:pt x="0" y="0"/>
                </a:lnTo>
                <a:close/>
              </a:path>
            </a:pathLst>
          </a:custGeom>
          <a:blipFill>
            <a:blip r:embed="rId9"/>
            <a:stretch>
              <a:fillRect t="-136" r="-67951" b="-136"/>
            </a:stretch>
          </a:blipFill>
        </p:spPr>
      </p:sp>
      <p:sp>
        <p:nvSpPr>
          <p:cNvPr id="10" name="TextBox 10"/>
          <p:cNvSpPr txBox="1"/>
          <p:nvPr/>
        </p:nvSpPr>
        <p:spPr>
          <a:xfrm>
            <a:off x="1403150" y="1000125"/>
            <a:ext cx="2858213" cy="330200"/>
          </a:xfrm>
          <a:prstGeom prst="rect">
            <a:avLst/>
          </a:prstGeom>
        </p:spPr>
        <p:txBody>
          <a:bodyPr lIns="0" tIns="0" rIns="0" bIns="0" rtlCol="0" anchor="t">
            <a:spAutoFit/>
          </a:bodyPr>
          <a:lstStyle/>
          <a:p>
            <a:pPr algn="l">
              <a:lnSpc>
                <a:spcPts val="2200"/>
              </a:lnSpc>
            </a:pPr>
            <a:r>
              <a:rPr lang="en-US" sz="2000">
                <a:solidFill>
                  <a:srgbClr val="202020"/>
                </a:solidFill>
                <a:latin typeface="Codec Pro"/>
                <a:ea typeface="Codec Pro"/>
                <a:cs typeface="Codec Pro"/>
                <a:sym typeface="Codec Pro"/>
              </a:rPr>
              <a:t>Project Overview</a:t>
            </a:r>
          </a:p>
        </p:txBody>
      </p:sp>
      <p:sp>
        <p:nvSpPr>
          <p:cNvPr id="11" name="TextBox 11"/>
          <p:cNvSpPr txBox="1"/>
          <p:nvPr/>
        </p:nvSpPr>
        <p:spPr>
          <a:xfrm>
            <a:off x="1021869" y="1895506"/>
            <a:ext cx="10882374" cy="735966"/>
          </a:xfrm>
          <a:prstGeom prst="rect">
            <a:avLst/>
          </a:prstGeom>
        </p:spPr>
        <p:txBody>
          <a:bodyPr lIns="0" tIns="0" rIns="0" bIns="0" rtlCol="0" anchor="t">
            <a:spAutoFit/>
          </a:bodyPr>
          <a:lstStyle/>
          <a:p>
            <a:pPr algn="l">
              <a:lnSpc>
                <a:spcPts val="5170"/>
              </a:lnSpc>
            </a:pPr>
            <a:r>
              <a:rPr lang="en-US" sz="4700" b="1" u="sng">
                <a:solidFill>
                  <a:srgbClr val="1A3C5C"/>
                </a:solidFill>
                <a:latin typeface="Codec Pro Bold"/>
                <a:ea typeface="Codec Pro Bold"/>
                <a:cs typeface="Codec Pro Bold"/>
                <a:sym typeface="Codec Pro Bold"/>
                <a:hlinkClick r:id="rId10" tooltip="https://drive.google.com/file/d/1-U5HDeJuQdfPYapWFKvK1SXiO8gnuQhK/view?usp=sharing"/>
              </a:rPr>
              <a:t>10 key questions with answers</a:t>
            </a:r>
          </a:p>
        </p:txBody>
      </p:sp>
      <p:sp>
        <p:nvSpPr>
          <p:cNvPr id="12" name="TextBox 12"/>
          <p:cNvSpPr txBox="1"/>
          <p:nvPr/>
        </p:nvSpPr>
        <p:spPr>
          <a:xfrm>
            <a:off x="1028700" y="7841533"/>
            <a:ext cx="7215891" cy="1685290"/>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Q1 </a:t>
            </a:r>
            <a:r>
              <a:rPr lang="en-US" sz="1900">
                <a:solidFill>
                  <a:srgbClr val="202020"/>
                </a:solidFill>
                <a:latin typeface="Codec Pro"/>
                <a:ea typeface="Codec Pro"/>
                <a:cs typeface="Codec Pro"/>
                <a:sym typeface="Codec Pro"/>
              </a:rPr>
              <a:t>— </a:t>
            </a:r>
            <a:r>
              <a:rPr lang="en-US" sz="1900" b="1">
                <a:solidFill>
                  <a:srgbClr val="202020"/>
                </a:solidFill>
                <a:latin typeface="Codec Pro Bold"/>
                <a:ea typeface="Codec Pro Bold"/>
                <a:cs typeface="Codec Pro Bold"/>
                <a:sym typeface="Codec Pro Bold"/>
              </a:rPr>
              <a:t>Student Master View</a:t>
            </a:r>
            <a:r>
              <a:rPr lang="en-US" sz="1900">
                <a:solidFill>
                  <a:srgbClr val="202020"/>
                </a:solidFill>
                <a:latin typeface="Codec Pro"/>
                <a:ea typeface="Codec Pro"/>
                <a:cs typeface="Codec Pro"/>
                <a:sym typeface="Codec Pro"/>
              </a:rPr>
              <a:t> Creates a comprehensive view joining student data across multiple tables. </a:t>
            </a:r>
            <a:r>
              <a:rPr lang="en-US" sz="1900" b="1" u="sng">
                <a:solidFill>
                  <a:srgbClr val="336073"/>
                </a:solidFill>
                <a:latin typeface="Codec Pro Bold"/>
                <a:ea typeface="Codec Pro Bold"/>
                <a:cs typeface="Codec Pro Bold"/>
                <a:sym typeface="Codec Pro Bold"/>
              </a:rPr>
              <a:t>Output</a:t>
            </a:r>
            <a:r>
              <a:rPr lang="en-US" sz="1900">
                <a:solidFill>
                  <a:srgbClr val="202020"/>
                </a:solidFill>
                <a:latin typeface="Codec Pro"/>
                <a:ea typeface="Codec Pro"/>
                <a:cs typeface="Codec Pro"/>
                <a:sym typeface="Codec Pro"/>
              </a:rPr>
              <a:t>: A table showing StudentName, NationalID, Gender, Program, Department, EnrollmentDate, AcademicStatus, and calculated Age — filtered for Active students ordered by Program.</a:t>
            </a:r>
          </a:p>
        </p:txBody>
      </p:sp>
      <p:sp>
        <p:nvSpPr>
          <p:cNvPr id="13" name="TextBox 13"/>
          <p:cNvSpPr txBox="1"/>
          <p:nvPr/>
        </p:nvSpPr>
        <p:spPr>
          <a:xfrm>
            <a:off x="9037621" y="7841533"/>
            <a:ext cx="7215891" cy="1685290"/>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Q2 </a:t>
            </a:r>
            <a:r>
              <a:rPr lang="en-US" sz="1900">
                <a:solidFill>
                  <a:srgbClr val="202020"/>
                </a:solidFill>
                <a:latin typeface="Codec Pro"/>
                <a:ea typeface="Codec Pro"/>
                <a:cs typeface="Codec Pro"/>
                <a:sym typeface="Codec Pro"/>
              </a:rPr>
              <a:t>— </a:t>
            </a:r>
            <a:r>
              <a:rPr lang="en-US" sz="1900" b="1">
                <a:solidFill>
                  <a:srgbClr val="202020"/>
                </a:solidFill>
                <a:latin typeface="Codec Pro Bold"/>
                <a:ea typeface="Codec Pro Bold"/>
                <a:cs typeface="Codec Pro Bold"/>
                <a:sym typeface="Codec Pro Bold"/>
              </a:rPr>
              <a:t>Current Semester Course Load</a:t>
            </a:r>
            <a:r>
              <a:rPr lang="en-US" sz="1900">
                <a:solidFill>
                  <a:srgbClr val="202020"/>
                </a:solidFill>
                <a:latin typeface="Codec Pro"/>
                <a:ea typeface="Codec Pro"/>
                <a:cs typeface="Codec Pro"/>
                <a:sym typeface="Codec Pro"/>
              </a:rPr>
              <a:t> Displays all courses a specific student is registered in for a given semester. </a:t>
            </a:r>
            <a:r>
              <a:rPr lang="en-US" sz="1900" b="1" u="sng">
                <a:solidFill>
                  <a:srgbClr val="336073"/>
                </a:solidFill>
                <a:latin typeface="Codec Pro Bold"/>
                <a:ea typeface="Codec Pro Bold"/>
                <a:cs typeface="Codec Pro Bold"/>
                <a:sym typeface="Codec Pro Bold"/>
              </a:rPr>
              <a:t>Output</a:t>
            </a:r>
            <a:r>
              <a:rPr lang="en-US" sz="1900">
                <a:solidFill>
                  <a:srgbClr val="202020"/>
                </a:solidFill>
                <a:latin typeface="Codec Pro"/>
                <a:ea typeface="Codec Pro"/>
                <a:cs typeface="Codec Pro"/>
                <a:sym typeface="Codec Pro"/>
              </a:rPr>
              <a:t>: A table showing StudentName, SemesterName, CourseCode, CourseName, CreditHours, and SectionID for a filtered Student and Semester.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8225" y="1028700"/>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3215549" y="6058156"/>
            <a:ext cx="7848780" cy="7891826"/>
          </a:xfrm>
          <a:custGeom>
            <a:avLst/>
            <a:gdLst/>
            <a:ahLst/>
            <a:cxnLst/>
            <a:rect l="l" t="t" r="r" b="b"/>
            <a:pathLst>
              <a:path w="7848780" h="7891826">
                <a:moveTo>
                  <a:pt x="7848779" y="0"/>
                </a:moveTo>
                <a:lnTo>
                  <a:pt x="0" y="0"/>
                </a:lnTo>
                <a:lnTo>
                  <a:pt x="0" y="7891826"/>
                </a:lnTo>
                <a:lnTo>
                  <a:pt x="7848779" y="7891826"/>
                </a:lnTo>
                <a:lnTo>
                  <a:pt x="7848779" y="0"/>
                </a:lnTo>
                <a:close/>
              </a:path>
            </a:pathLst>
          </a:custGeom>
          <a:blipFill>
            <a:blip r:embed="rId4"/>
            <a:stretch>
              <a:fillRect/>
            </a:stretch>
          </a:blipFill>
        </p:spPr>
      </p:sp>
      <p:sp>
        <p:nvSpPr>
          <p:cNvPr id="4" name="Freeform 4"/>
          <p:cNvSpPr/>
          <p:nvPr/>
        </p:nvSpPr>
        <p:spPr>
          <a:xfrm rot="5465508" flipH="1" flipV="1">
            <a:off x="4356947" y="-5658746"/>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4">
              <a:alphaModFix amt="78000"/>
            </a:blip>
            <a:stretch>
              <a:fillRect/>
            </a:stretch>
          </a:blipFill>
        </p:spPr>
      </p:sp>
      <p:sp>
        <p:nvSpPr>
          <p:cNvPr id="5" name="Freeform 5"/>
          <p:cNvSpPr/>
          <p:nvPr/>
        </p:nvSpPr>
        <p:spPr>
          <a:xfrm flipV="1">
            <a:off x="15264285" y="0"/>
            <a:ext cx="1978456" cy="2286031"/>
          </a:xfrm>
          <a:custGeom>
            <a:avLst/>
            <a:gdLst/>
            <a:ahLst/>
            <a:cxnLst/>
            <a:rect l="l" t="t" r="r" b="b"/>
            <a:pathLst>
              <a:path w="1978456" h="2286031">
                <a:moveTo>
                  <a:pt x="0" y="2286031"/>
                </a:moveTo>
                <a:lnTo>
                  <a:pt x="1978456" y="2286031"/>
                </a:lnTo>
                <a:lnTo>
                  <a:pt x="1978456" y="0"/>
                </a:lnTo>
                <a:lnTo>
                  <a:pt x="0" y="0"/>
                </a:lnTo>
                <a:lnTo>
                  <a:pt x="0" y="2286031"/>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17259300" y="-102870"/>
            <a:ext cx="1126686" cy="10622209"/>
            <a:chOff x="0" y="0"/>
            <a:chExt cx="174553" cy="1645658"/>
          </a:xfrm>
        </p:grpSpPr>
        <p:sp>
          <p:nvSpPr>
            <p:cNvPr id="7" name="Freeform 7"/>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7"/>
              <a:stretch>
                <a:fillRect l="-657529" r="-657529"/>
              </a:stretch>
            </a:blipFill>
          </p:spPr>
        </p:sp>
      </p:grpSp>
      <p:sp>
        <p:nvSpPr>
          <p:cNvPr id="8" name="Freeform 8"/>
          <p:cNvSpPr/>
          <p:nvPr/>
        </p:nvSpPr>
        <p:spPr>
          <a:xfrm>
            <a:off x="1081611" y="2878775"/>
            <a:ext cx="5607342" cy="4105813"/>
          </a:xfrm>
          <a:custGeom>
            <a:avLst/>
            <a:gdLst/>
            <a:ahLst/>
            <a:cxnLst/>
            <a:rect l="l" t="t" r="r" b="b"/>
            <a:pathLst>
              <a:path w="5607342" h="4105813">
                <a:moveTo>
                  <a:pt x="0" y="0"/>
                </a:moveTo>
                <a:lnTo>
                  <a:pt x="5607342" y="0"/>
                </a:lnTo>
                <a:lnTo>
                  <a:pt x="5607342" y="4105813"/>
                </a:lnTo>
                <a:lnTo>
                  <a:pt x="0" y="4105813"/>
                </a:lnTo>
                <a:lnTo>
                  <a:pt x="0" y="0"/>
                </a:lnTo>
                <a:close/>
              </a:path>
            </a:pathLst>
          </a:custGeom>
          <a:blipFill>
            <a:blip r:embed="rId8"/>
            <a:stretch>
              <a:fillRect r="-35283"/>
            </a:stretch>
          </a:blipFill>
        </p:spPr>
      </p:sp>
      <p:sp>
        <p:nvSpPr>
          <p:cNvPr id="9" name="Freeform 9"/>
          <p:cNvSpPr/>
          <p:nvPr/>
        </p:nvSpPr>
        <p:spPr>
          <a:xfrm>
            <a:off x="9852912" y="2878775"/>
            <a:ext cx="4896796" cy="4105813"/>
          </a:xfrm>
          <a:custGeom>
            <a:avLst/>
            <a:gdLst/>
            <a:ahLst/>
            <a:cxnLst/>
            <a:rect l="l" t="t" r="r" b="b"/>
            <a:pathLst>
              <a:path w="4896796" h="4105813">
                <a:moveTo>
                  <a:pt x="0" y="0"/>
                </a:moveTo>
                <a:lnTo>
                  <a:pt x="4896796" y="0"/>
                </a:lnTo>
                <a:lnTo>
                  <a:pt x="4896796" y="4105813"/>
                </a:lnTo>
                <a:lnTo>
                  <a:pt x="0" y="4105813"/>
                </a:lnTo>
                <a:lnTo>
                  <a:pt x="0" y="0"/>
                </a:lnTo>
                <a:close/>
              </a:path>
            </a:pathLst>
          </a:custGeom>
          <a:blipFill>
            <a:blip r:embed="rId9"/>
            <a:stretch>
              <a:fillRect l="-2099" r="-62835" b="-5977"/>
            </a:stretch>
          </a:blipFill>
        </p:spPr>
      </p:sp>
      <p:sp>
        <p:nvSpPr>
          <p:cNvPr id="10" name="TextBox 10"/>
          <p:cNvSpPr txBox="1"/>
          <p:nvPr/>
        </p:nvSpPr>
        <p:spPr>
          <a:xfrm>
            <a:off x="1403150" y="1000125"/>
            <a:ext cx="2858213" cy="330200"/>
          </a:xfrm>
          <a:prstGeom prst="rect">
            <a:avLst/>
          </a:prstGeom>
        </p:spPr>
        <p:txBody>
          <a:bodyPr lIns="0" tIns="0" rIns="0" bIns="0" rtlCol="0" anchor="t">
            <a:spAutoFit/>
          </a:bodyPr>
          <a:lstStyle/>
          <a:p>
            <a:pPr algn="l">
              <a:lnSpc>
                <a:spcPts val="2200"/>
              </a:lnSpc>
            </a:pPr>
            <a:r>
              <a:rPr lang="en-US" sz="2000">
                <a:solidFill>
                  <a:srgbClr val="202020"/>
                </a:solidFill>
                <a:latin typeface="Codec Pro"/>
                <a:ea typeface="Codec Pro"/>
                <a:cs typeface="Codec Pro"/>
                <a:sym typeface="Codec Pro"/>
              </a:rPr>
              <a:t>Project Overview</a:t>
            </a:r>
          </a:p>
        </p:txBody>
      </p:sp>
      <p:sp>
        <p:nvSpPr>
          <p:cNvPr id="11" name="TextBox 11"/>
          <p:cNvSpPr txBox="1"/>
          <p:nvPr/>
        </p:nvSpPr>
        <p:spPr>
          <a:xfrm>
            <a:off x="1021869" y="1895506"/>
            <a:ext cx="10882374" cy="735966"/>
          </a:xfrm>
          <a:prstGeom prst="rect">
            <a:avLst/>
          </a:prstGeom>
        </p:spPr>
        <p:txBody>
          <a:bodyPr lIns="0" tIns="0" rIns="0" bIns="0" rtlCol="0" anchor="t">
            <a:spAutoFit/>
          </a:bodyPr>
          <a:lstStyle/>
          <a:p>
            <a:pPr algn="l">
              <a:lnSpc>
                <a:spcPts val="5170"/>
              </a:lnSpc>
            </a:pPr>
            <a:r>
              <a:rPr lang="en-US" sz="4700" b="1">
                <a:solidFill>
                  <a:srgbClr val="1A3C5C"/>
                </a:solidFill>
                <a:latin typeface="Codec Pro Bold"/>
                <a:ea typeface="Codec Pro Bold"/>
                <a:cs typeface="Codec Pro Bold"/>
                <a:sym typeface="Codec Pro Bold"/>
              </a:rPr>
              <a:t>10 key questions with answers</a:t>
            </a:r>
          </a:p>
        </p:txBody>
      </p:sp>
      <p:sp>
        <p:nvSpPr>
          <p:cNvPr id="12" name="TextBox 12"/>
          <p:cNvSpPr txBox="1"/>
          <p:nvPr/>
        </p:nvSpPr>
        <p:spPr>
          <a:xfrm>
            <a:off x="1162908" y="7841533"/>
            <a:ext cx="7215891" cy="1685290"/>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Q3 —</a:t>
            </a:r>
            <a:r>
              <a:rPr lang="en-US" sz="1900" b="1">
                <a:solidFill>
                  <a:srgbClr val="000000"/>
                </a:solidFill>
                <a:latin typeface="Codec Pro Bold"/>
                <a:ea typeface="Codec Pro Bold"/>
                <a:cs typeface="Codec Pro Bold"/>
                <a:sym typeface="Codec Pro Bold"/>
              </a:rPr>
              <a:t> Course Enrollment &amp; Capacity Report</a:t>
            </a:r>
            <a:r>
              <a:rPr lang="en-US" sz="1900">
                <a:solidFill>
                  <a:srgbClr val="000000"/>
                </a:solidFill>
                <a:latin typeface="Codec Pro"/>
                <a:ea typeface="Codec Pro"/>
                <a:cs typeface="Codec Pro"/>
                <a:sym typeface="Codec Pro"/>
              </a:rPr>
              <a:t> Reveals how full each section is in a given semester compared to its capacity.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A table showing CourseCode, SectionID, InstructorName, Capacity, EnrolledCount, and RemainingSeats — ordered ascending by available seats.</a:t>
            </a:r>
          </a:p>
        </p:txBody>
      </p:sp>
      <p:sp>
        <p:nvSpPr>
          <p:cNvPr id="13" name="TextBox 13"/>
          <p:cNvSpPr txBox="1"/>
          <p:nvPr/>
        </p:nvSpPr>
        <p:spPr>
          <a:xfrm>
            <a:off x="9037621" y="7841533"/>
            <a:ext cx="7215891" cy="1685290"/>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Q4 — </a:t>
            </a:r>
            <a:r>
              <a:rPr lang="en-US" sz="1900" b="1">
                <a:solidFill>
                  <a:srgbClr val="000000"/>
                </a:solidFill>
                <a:latin typeface="Codec Pro Bold"/>
                <a:ea typeface="Codec Pro Bold"/>
                <a:cs typeface="Codec Pro Bold"/>
                <a:sym typeface="Codec Pro Bold"/>
              </a:rPr>
              <a:t>GPA Calculation View (Semester GPA)</a:t>
            </a:r>
            <a:r>
              <a:rPr lang="en-US" sz="1900" u="sng">
                <a:solidFill>
                  <a:srgbClr val="000000"/>
                </a:solidFill>
                <a:latin typeface="Codec Pro"/>
                <a:ea typeface="Codec Pro"/>
                <a:cs typeface="Codec Pro"/>
                <a:sym typeface="Codec Pro"/>
              </a:rPr>
              <a:t> </a:t>
            </a:r>
            <a:r>
              <a:rPr lang="en-US" sz="1900">
                <a:solidFill>
                  <a:srgbClr val="000000"/>
                </a:solidFill>
                <a:latin typeface="Codec Pro"/>
                <a:ea typeface="Codec Pro"/>
                <a:cs typeface="Codec Pro"/>
                <a:sym typeface="Codec Pro"/>
              </a:rPr>
              <a:t>Calculates each student's GPA for a specific semester based on grades and credit hours.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A view showing StudentID, SemesterID, TotalCreditsAttempted, TotalQualityPoints, and SemesterGPA — using the grade scale A=4, B=3, C=2, D=1, F=0.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8225" y="1028700"/>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3215549" y="6058156"/>
            <a:ext cx="7848780" cy="7891826"/>
          </a:xfrm>
          <a:custGeom>
            <a:avLst/>
            <a:gdLst/>
            <a:ahLst/>
            <a:cxnLst/>
            <a:rect l="l" t="t" r="r" b="b"/>
            <a:pathLst>
              <a:path w="7848780" h="7891826">
                <a:moveTo>
                  <a:pt x="7848779" y="0"/>
                </a:moveTo>
                <a:lnTo>
                  <a:pt x="0" y="0"/>
                </a:lnTo>
                <a:lnTo>
                  <a:pt x="0" y="7891826"/>
                </a:lnTo>
                <a:lnTo>
                  <a:pt x="7848779" y="7891826"/>
                </a:lnTo>
                <a:lnTo>
                  <a:pt x="7848779" y="0"/>
                </a:lnTo>
                <a:close/>
              </a:path>
            </a:pathLst>
          </a:custGeom>
          <a:blipFill>
            <a:blip r:embed="rId4"/>
            <a:stretch>
              <a:fillRect/>
            </a:stretch>
          </a:blipFill>
        </p:spPr>
      </p:sp>
      <p:sp>
        <p:nvSpPr>
          <p:cNvPr id="4" name="Freeform 4"/>
          <p:cNvSpPr/>
          <p:nvPr/>
        </p:nvSpPr>
        <p:spPr>
          <a:xfrm rot="5465508" flipH="1" flipV="1">
            <a:off x="4356947" y="-5658746"/>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4">
              <a:alphaModFix amt="78000"/>
            </a:blip>
            <a:stretch>
              <a:fillRect/>
            </a:stretch>
          </a:blipFill>
        </p:spPr>
      </p:sp>
      <p:sp>
        <p:nvSpPr>
          <p:cNvPr id="5" name="Freeform 5"/>
          <p:cNvSpPr/>
          <p:nvPr/>
        </p:nvSpPr>
        <p:spPr>
          <a:xfrm flipV="1">
            <a:off x="15280844" y="-8255"/>
            <a:ext cx="1978456" cy="2286031"/>
          </a:xfrm>
          <a:custGeom>
            <a:avLst/>
            <a:gdLst/>
            <a:ahLst/>
            <a:cxnLst/>
            <a:rect l="l" t="t" r="r" b="b"/>
            <a:pathLst>
              <a:path w="1978456" h="2286031">
                <a:moveTo>
                  <a:pt x="0" y="2286032"/>
                </a:moveTo>
                <a:lnTo>
                  <a:pt x="1978456" y="2286032"/>
                </a:lnTo>
                <a:lnTo>
                  <a:pt x="1978456" y="0"/>
                </a:lnTo>
                <a:lnTo>
                  <a:pt x="0" y="0"/>
                </a:lnTo>
                <a:lnTo>
                  <a:pt x="0" y="2286032"/>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17259300" y="-102870"/>
            <a:ext cx="1126686" cy="10622209"/>
            <a:chOff x="0" y="0"/>
            <a:chExt cx="174553" cy="1645658"/>
          </a:xfrm>
        </p:grpSpPr>
        <p:sp>
          <p:nvSpPr>
            <p:cNvPr id="7" name="Freeform 7"/>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7"/>
              <a:stretch>
                <a:fillRect l="-657529" r="-657529"/>
              </a:stretch>
            </a:blipFill>
          </p:spPr>
        </p:sp>
      </p:grpSp>
      <p:sp>
        <p:nvSpPr>
          <p:cNvPr id="8" name="Freeform 8"/>
          <p:cNvSpPr/>
          <p:nvPr/>
        </p:nvSpPr>
        <p:spPr>
          <a:xfrm>
            <a:off x="2230357" y="2757348"/>
            <a:ext cx="4062013" cy="4236098"/>
          </a:xfrm>
          <a:custGeom>
            <a:avLst/>
            <a:gdLst/>
            <a:ahLst/>
            <a:cxnLst/>
            <a:rect l="l" t="t" r="r" b="b"/>
            <a:pathLst>
              <a:path w="4062013" h="4236098">
                <a:moveTo>
                  <a:pt x="0" y="0"/>
                </a:moveTo>
                <a:lnTo>
                  <a:pt x="4062013" y="0"/>
                </a:lnTo>
                <a:lnTo>
                  <a:pt x="4062013" y="4236098"/>
                </a:lnTo>
                <a:lnTo>
                  <a:pt x="0" y="4236098"/>
                </a:lnTo>
                <a:lnTo>
                  <a:pt x="0" y="0"/>
                </a:lnTo>
                <a:close/>
              </a:path>
            </a:pathLst>
          </a:custGeom>
          <a:blipFill>
            <a:blip r:embed="rId8"/>
            <a:stretch>
              <a:fillRect r="-93569"/>
            </a:stretch>
          </a:blipFill>
        </p:spPr>
      </p:sp>
      <p:sp>
        <p:nvSpPr>
          <p:cNvPr id="9" name="Freeform 9"/>
          <p:cNvSpPr/>
          <p:nvPr/>
        </p:nvSpPr>
        <p:spPr>
          <a:xfrm>
            <a:off x="10712271" y="2631472"/>
            <a:ext cx="4440608" cy="4361974"/>
          </a:xfrm>
          <a:custGeom>
            <a:avLst/>
            <a:gdLst/>
            <a:ahLst/>
            <a:cxnLst/>
            <a:rect l="l" t="t" r="r" b="b"/>
            <a:pathLst>
              <a:path w="4440608" h="4361974">
                <a:moveTo>
                  <a:pt x="0" y="0"/>
                </a:moveTo>
                <a:lnTo>
                  <a:pt x="4440608" y="0"/>
                </a:lnTo>
                <a:lnTo>
                  <a:pt x="4440608" y="4361974"/>
                </a:lnTo>
                <a:lnTo>
                  <a:pt x="0" y="4361974"/>
                </a:lnTo>
                <a:lnTo>
                  <a:pt x="0" y="0"/>
                </a:lnTo>
                <a:close/>
              </a:path>
            </a:pathLst>
          </a:custGeom>
          <a:blipFill>
            <a:blip r:embed="rId9"/>
            <a:stretch>
              <a:fillRect r="-82751"/>
            </a:stretch>
          </a:blipFill>
        </p:spPr>
      </p:sp>
      <p:sp>
        <p:nvSpPr>
          <p:cNvPr id="10" name="TextBox 10"/>
          <p:cNvSpPr txBox="1"/>
          <p:nvPr/>
        </p:nvSpPr>
        <p:spPr>
          <a:xfrm>
            <a:off x="1403150" y="1000125"/>
            <a:ext cx="2858213" cy="330200"/>
          </a:xfrm>
          <a:prstGeom prst="rect">
            <a:avLst/>
          </a:prstGeom>
        </p:spPr>
        <p:txBody>
          <a:bodyPr lIns="0" tIns="0" rIns="0" bIns="0" rtlCol="0" anchor="t">
            <a:spAutoFit/>
          </a:bodyPr>
          <a:lstStyle/>
          <a:p>
            <a:pPr algn="l">
              <a:lnSpc>
                <a:spcPts val="2200"/>
              </a:lnSpc>
            </a:pPr>
            <a:r>
              <a:rPr lang="en-US" sz="2000">
                <a:solidFill>
                  <a:srgbClr val="202020"/>
                </a:solidFill>
                <a:latin typeface="Codec Pro"/>
                <a:ea typeface="Codec Pro"/>
                <a:cs typeface="Codec Pro"/>
                <a:sym typeface="Codec Pro"/>
              </a:rPr>
              <a:t>Project Overview</a:t>
            </a:r>
          </a:p>
        </p:txBody>
      </p:sp>
      <p:sp>
        <p:nvSpPr>
          <p:cNvPr id="11" name="TextBox 11"/>
          <p:cNvSpPr txBox="1"/>
          <p:nvPr/>
        </p:nvSpPr>
        <p:spPr>
          <a:xfrm>
            <a:off x="1021869" y="1895506"/>
            <a:ext cx="10882374" cy="735966"/>
          </a:xfrm>
          <a:prstGeom prst="rect">
            <a:avLst/>
          </a:prstGeom>
        </p:spPr>
        <p:txBody>
          <a:bodyPr lIns="0" tIns="0" rIns="0" bIns="0" rtlCol="0" anchor="t">
            <a:spAutoFit/>
          </a:bodyPr>
          <a:lstStyle/>
          <a:p>
            <a:pPr algn="l">
              <a:lnSpc>
                <a:spcPts val="5170"/>
              </a:lnSpc>
            </a:pPr>
            <a:r>
              <a:rPr lang="en-US" sz="4700" b="1">
                <a:solidFill>
                  <a:srgbClr val="1A3C5C"/>
                </a:solidFill>
                <a:latin typeface="Codec Pro Bold"/>
                <a:ea typeface="Codec Pro Bold"/>
                <a:cs typeface="Codec Pro Bold"/>
                <a:sym typeface="Codec Pro Bold"/>
              </a:rPr>
              <a:t>10 key questions with answers</a:t>
            </a:r>
          </a:p>
        </p:txBody>
      </p:sp>
      <p:sp>
        <p:nvSpPr>
          <p:cNvPr id="12" name="TextBox 12"/>
          <p:cNvSpPr txBox="1"/>
          <p:nvPr/>
        </p:nvSpPr>
        <p:spPr>
          <a:xfrm>
            <a:off x="1287591" y="7906385"/>
            <a:ext cx="7215891" cy="1351915"/>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Q5 — </a:t>
            </a:r>
            <a:r>
              <a:rPr lang="en-US" sz="1900" b="1">
                <a:solidFill>
                  <a:srgbClr val="000000"/>
                </a:solidFill>
                <a:latin typeface="Codec Pro Bold"/>
                <a:ea typeface="Codec Pro Bold"/>
                <a:cs typeface="Codec Pro Bold"/>
                <a:sym typeface="Codec Pro Bold"/>
              </a:rPr>
              <a:t>Cumulative GPA (CGPA)</a:t>
            </a:r>
            <a:r>
              <a:rPr lang="en-US" sz="1900">
                <a:solidFill>
                  <a:srgbClr val="000000"/>
                </a:solidFill>
                <a:latin typeface="Codec Pro"/>
                <a:ea typeface="Codec Pro"/>
                <a:cs typeface="Codec Pro"/>
                <a:sym typeface="Codec Pro"/>
              </a:rPr>
              <a:t> Computes the overall CGPA per student across all completed semesters.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Top 20 students ranked by CGPA (descending), showing StudentName, ProgramName, TotalCredits, and CGPA.</a:t>
            </a:r>
          </a:p>
        </p:txBody>
      </p:sp>
      <p:sp>
        <p:nvSpPr>
          <p:cNvPr id="13" name="TextBox 13"/>
          <p:cNvSpPr txBox="1"/>
          <p:nvPr/>
        </p:nvSpPr>
        <p:spPr>
          <a:xfrm>
            <a:off x="9037621" y="7841533"/>
            <a:ext cx="7215891" cy="2018665"/>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Q6 — </a:t>
            </a:r>
            <a:r>
              <a:rPr lang="en-US" sz="1900" b="1">
                <a:solidFill>
                  <a:srgbClr val="000000"/>
                </a:solidFill>
                <a:latin typeface="Codec Pro Bold"/>
                <a:ea typeface="Codec Pro Bold"/>
                <a:cs typeface="Codec Pro Bold"/>
                <a:sym typeface="Codec Pro Bold"/>
              </a:rPr>
              <a:t>At-Risk Students (Academic Warning)</a:t>
            </a:r>
            <a:r>
              <a:rPr lang="en-US" sz="1900">
                <a:solidFill>
                  <a:srgbClr val="000000"/>
                </a:solidFill>
                <a:latin typeface="Codec Pro"/>
                <a:ea typeface="Codec Pro"/>
                <a:cs typeface="Codec Pro"/>
                <a:sym typeface="Codec Pro"/>
              </a:rPr>
              <a:t> Flags students at academic risk based on low semester GPA or high failed credits.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A warning list showing StudentName, SemesterName, SemesterGPA, FailedCredits, and AdvisorName — for students with GPA &lt; 2.0 or failed credits ≥ 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8225" y="1028700"/>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3215549" y="6058156"/>
            <a:ext cx="7848780" cy="7891826"/>
          </a:xfrm>
          <a:custGeom>
            <a:avLst/>
            <a:gdLst/>
            <a:ahLst/>
            <a:cxnLst/>
            <a:rect l="l" t="t" r="r" b="b"/>
            <a:pathLst>
              <a:path w="7848780" h="7891826">
                <a:moveTo>
                  <a:pt x="7848779" y="0"/>
                </a:moveTo>
                <a:lnTo>
                  <a:pt x="0" y="0"/>
                </a:lnTo>
                <a:lnTo>
                  <a:pt x="0" y="7891826"/>
                </a:lnTo>
                <a:lnTo>
                  <a:pt x="7848779" y="7891826"/>
                </a:lnTo>
                <a:lnTo>
                  <a:pt x="7848779" y="0"/>
                </a:lnTo>
                <a:close/>
              </a:path>
            </a:pathLst>
          </a:custGeom>
          <a:blipFill>
            <a:blip r:embed="rId4"/>
            <a:stretch>
              <a:fillRect/>
            </a:stretch>
          </a:blipFill>
        </p:spPr>
      </p:sp>
      <p:sp>
        <p:nvSpPr>
          <p:cNvPr id="4" name="Freeform 4"/>
          <p:cNvSpPr/>
          <p:nvPr/>
        </p:nvSpPr>
        <p:spPr>
          <a:xfrm rot="5465508" flipH="1" flipV="1">
            <a:off x="4356947" y="-5658746"/>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4">
              <a:alphaModFix amt="78000"/>
            </a:blip>
            <a:stretch>
              <a:fillRect/>
            </a:stretch>
          </a:blipFill>
        </p:spPr>
      </p:sp>
      <p:sp>
        <p:nvSpPr>
          <p:cNvPr id="5" name="Freeform 5"/>
          <p:cNvSpPr/>
          <p:nvPr/>
        </p:nvSpPr>
        <p:spPr>
          <a:xfrm flipV="1">
            <a:off x="15273110" y="-8255"/>
            <a:ext cx="1978456" cy="2286031"/>
          </a:xfrm>
          <a:custGeom>
            <a:avLst/>
            <a:gdLst/>
            <a:ahLst/>
            <a:cxnLst/>
            <a:rect l="l" t="t" r="r" b="b"/>
            <a:pathLst>
              <a:path w="1978456" h="2286031">
                <a:moveTo>
                  <a:pt x="0" y="2286032"/>
                </a:moveTo>
                <a:lnTo>
                  <a:pt x="1978456" y="2286032"/>
                </a:lnTo>
                <a:lnTo>
                  <a:pt x="1978456" y="0"/>
                </a:lnTo>
                <a:lnTo>
                  <a:pt x="0" y="0"/>
                </a:lnTo>
                <a:lnTo>
                  <a:pt x="0" y="2286032"/>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17259300" y="-102870"/>
            <a:ext cx="1126686" cy="10622209"/>
            <a:chOff x="0" y="0"/>
            <a:chExt cx="174553" cy="1645658"/>
          </a:xfrm>
        </p:grpSpPr>
        <p:sp>
          <p:nvSpPr>
            <p:cNvPr id="7" name="Freeform 7"/>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7"/>
              <a:stretch>
                <a:fillRect l="-657529" r="-657529"/>
              </a:stretch>
            </a:blipFill>
          </p:spPr>
        </p:sp>
      </p:grpSp>
      <p:sp>
        <p:nvSpPr>
          <p:cNvPr id="8" name="Freeform 8"/>
          <p:cNvSpPr/>
          <p:nvPr/>
        </p:nvSpPr>
        <p:spPr>
          <a:xfrm>
            <a:off x="1583984" y="2631472"/>
            <a:ext cx="4879072" cy="4478221"/>
          </a:xfrm>
          <a:custGeom>
            <a:avLst/>
            <a:gdLst/>
            <a:ahLst/>
            <a:cxnLst/>
            <a:rect l="l" t="t" r="r" b="b"/>
            <a:pathLst>
              <a:path w="4879072" h="4478221">
                <a:moveTo>
                  <a:pt x="0" y="0"/>
                </a:moveTo>
                <a:lnTo>
                  <a:pt x="4879072" y="0"/>
                </a:lnTo>
                <a:lnTo>
                  <a:pt x="4879072" y="4478220"/>
                </a:lnTo>
                <a:lnTo>
                  <a:pt x="0" y="4478220"/>
                </a:lnTo>
                <a:lnTo>
                  <a:pt x="0" y="0"/>
                </a:lnTo>
                <a:close/>
              </a:path>
            </a:pathLst>
          </a:custGeom>
          <a:blipFill>
            <a:blip r:embed="rId8"/>
            <a:stretch>
              <a:fillRect r="-70761"/>
            </a:stretch>
          </a:blipFill>
        </p:spPr>
      </p:sp>
      <p:sp>
        <p:nvSpPr>
          <p:cNvPr id="9" name="Freeform 9"/>
          <p:cNvSpPr/>
          <p:nvPr/>
        </p:nvSpPr>
        <p:spPr>
          <a:xfrm>
            <a:off x="9707185" y="2631472"/>
            <a:ext cx="4954207" cy="4478221"/>
          </a:xfrm>
          <a:custGeom>
            <a:avLst/>
            <a:gdLst/>
            <a:ahLst/>
            <a:cxnLst/>
            <a:rect l="l" t="t" r="r" b="b"/>
            <a:pathLst>
              <a:path w="4954207" h="4478221">
                <a:moveTo>
                  <a:pt x="0" y="0"/>
                </a:moveTo>
                <a:lnTo>
                  <a:pt x="4954207" y="0"/>
                </a:lnTo>
                <a:lnTo>
                  <a:pt x="4954207" y="4478220"/>
                </a:lnTo>
                <a:lnTo>
                  <a:pt x="0" y="4478220"/>
                </a:lnTo>
                <a:lnTo>
                  <a:pt x="0" y="0"/>
                </a:lnTo>
                <a:close/>
              </a:path>
            </a:pathLst>
          </a:custGeom>
          <a:blipFill>
            <a:blip r:embed="rId9"/>
            <a:stretch>
              <a:fillRect l="-427" t="-4503" r="-80534" b="-2851"/>
            </a:stretch>
          </a:blipFill>
        </p:spPr>
      </p:sp>
      <p:sp>
        <p:nvSpPr>
          <p:cNvPr id="10" name="TextBox 10"/>
          <p:cNvSpPr txBox="1"/>
          <p:nvPr/>
        </p:nvSpPr>
        <p:spPr>
          <a:xfrm>
            <a:off x="1403150" y="1000125"/>
            <a:ext cx="2858213" cy="330200"/>
          </a:xfrm>
          <a:prstGeom prst="rect">
            <a:avLst/>
          </a:prstGeom>
        </p:spPr>
        <p:txBody>
          <a:bodyPr lIns="0" tIns="0" rIns="0" bIns="0" rtlCol="0" anchor="t">
            <a:spAutoFit/>
          </a:bodyPr>
          <a:lstStyle/>
          <a:p>
            <a:pPr algn="l">
              <a:lnSpc>
                <a:spcPts val="2200"/>
              </a:lnSpc>
            </a:pPr>
            <a:r>
              <a:rPr lang="en-US" sz="2000">
                <a:solidFill>
                  <a:srgbClr val="202020"/>
                </a:solidFill>
                <a:latin typeface="Codec Pro"/>
                <a:ea typeface="Codec Pro"/>
                <a:cs typeface="Codec Pro"/>
                <a:sym typeface="Codec Pro"/>
              </a:rPr>
              <a:t>Project Overview</a:t>
            </a:r>
          </a:p>
        </p:txBody>
      </p:sp>
      <p:sp>
        <p:nvSpPr>
          <p:cNvPr id="11" name="TextBox 11"/>
          <p:cNvSpPr txBox="1"/>
          <p:nvPr/>
        </p:nvSpPr>
        <p:spPr>
          <a:xfrm>
            <a:off x="1021869" y="1895506"/>
            <a:ext cx="10882374" cy="735966"/>
          </a:xfrm>
          <a:prstGeom prst="rect">
            <a:avLst/>
          </a:prstGeom>
        </p:spPr>
        <p:txBody>
          <a:bodyPr lIns="0" tIns="0" rIns="0" bIns="0" rtlCol="0" anchor="t">
            <a:spAutoFit/>
          </a:bodyPr>
          <a:lstStyle/>
          <a:p>
            <a:pPr algn="l">
              <a:lnSpc>
                <a:spcPts val="5170"/>
              </a:lnSpc>
            </a:pPr>
            <a:r>
              <a:rPr lang="en-US" sz="4700" b="1">
                <a:solidFill>
                  <a:srgbClr val="1A3C5C"/>
                </a:solidFill>
                <a:latin typeface="Codec Pro Bold"/>
                <a:ea typeface="Codec Pro Bold"/>
                <a:cs typeface="Codec Pro Bold"/>
                <a:sym typeface="Codec Pro Bold"/>
              </a:rPr>
              <a:t>10 key questions with answers</a:t>
            </a:r>
          </a:p>
        </p:txBody>
      </p:sp>
      <p:sp>
        <p:nvSpPr>
          <p:cNvPr id="12" name="TextBox 12"/>
          <p:cNvSpPr txBox="1"/>
          <p:nvPr/>
        </p:nvSpPr>
        <p:spPr>
          <a:xfrm>
            <a:off x="1162908" y="7841533"/>
            <a:ext cx="7215891" cy="2018665"/>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Q7 — </a:t>
            </a:r>
            <a:r>
              <a:rPr lang="en-US" sz="1900" b="1">
                <a:solidFill>
                  <a:srgbClr val="000000"/>
                </a:solidFill>
                <a:latin typeface="Codec Pro Bold"/>
                <a:ea typeface="Codec Pro Bold"/>
                <a:cs typeface="Codec Pro Bold"/>
                <a:sym typeface="Codec Pro Bold"/>
              </a:rPr>
              <a:t>Prerequisite Validation</a:t>
            </a:r>
            <a:r>
              <a:rPr lang="en-US" sz="1900">
                <a:solidFill>
                  <a:srgbClr val="000000"/>
                </a:solidFill>
                <a:latin typeface="Codec Pro"/>
                <a:ea typeface="Codec Pro"/>
                <a:cs typeface="Codec Pro"/>
                <a:sym typeface="Codec Pro"/>
              </a:rPr>
              <a:t> Detects invalid enrollments where students registered for a course without passing its prerequisite.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A table showing StudentName, CourseEnrolled, and the MissingPrerequisite course(s) — to flag and correct registration errors.</a:t>
            </a:r>
          </a:p>
          <a:p>
            <a:pPr algn="l">
              <a:lnSpc>
                <a:spcPts val="2660"/>
              </a:lnSpc>
              <a:spcBef>
                <a:spcPct val="0"/>
              </a:spcBef>
            </a:pPr>
            <a:endParaRPr lang="en-US" sz="1900">
              <a:solidFill>
                <a:srgbClr val="000000"/>
              </a:solidFill>
              <a:latin typeface="Codec Pro"/>
              <a:ea typeface="Codec Pro"/>
              <a:cs typeface="Codec Pro"/>
              <a:sym typeface="Codec Pro"/>
            </a:endParaRPr>
          </a:p>
        </p:txBody>
      </p:sp>
      <p:sp>
        <p:nvSpPr>
          <p:cNvPr id="13" name="TextBox 13"/>
          <p:cNvSpPr txBox="1"/>
          <p:nvPr/>
        </p:nvSpPr>
        <p:spPr>
          <a:xfrm>
            <a:off x="9037621" y="7841533"/>
            <a:ext cx="7215891" cy="1685290"/>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Q8 — </a:t>
            </a:r>
            <a:r>
              <a:rPr lang="en-US" sz="1900" b="1">
                <a:solidFill>
                  <a:srgbClr val="000000"/>
                </a:solidFill>
                <a:latin typeface="Codec Pro Bold"/>
                <a:ea typeface="Codec Pro Bold"/>
                <a:cs typeface="Codec Pro Bold"/>
                <a:sym typeface="Codec Pro Bold"/>
              </a:rPr>
              <a:t>Course Pass Rate by Department</a:t>
            </a:r>
            <a:r>
              <a:rPr lang="en-US" sz="1900">
                <a:solidFill>
                  <a:srgbClr val="000000"/>
                </a:solidFill>
                <a:latin typeface="Codec Pro"/>
                <a:ea typeface="Codec Pro"/>
                <a:cs typeface="Codec Pro"/>
                <a:sym typeface="Codec Pro"/>
              </a:rPr>
              <a:t> Calculates the pass/fail rate per course or department for a given semester.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A table showing DepartmentName, CourseCode, CourseName, TotalEnrolled, PassedCount, FailedCount, and PassRate% — to identify underperforming courses.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8225" y="1028700"/>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3215549" y="6058156"/>
            <a:ext cx="7848780" cy="7891826"/>
          </a:xfrm>
          <a:custGeom>
            <a:avLst/>
            <a:gdLst/>
            <a:ahLst/>
            <a:cxnLst/>
            <a:rect l="l" t="t" r="r" b="b"/>
            <a:pathLst>
              <a:path w="7848780" h="7891826">
                <a:moveTo>
                  <a:pt x="7848779" y="0"/>
                </a:moveTo>
                <a:lnTo>
                  <a:pt x="0" y="0"/>
                </a:lnTo>
                <a:lnTo>
                  <a:pt x="0" y="7891826"/>
                </a:lnTo>
                <a:lnTo>
                  <a:pt x="7848779" y="7891826"/>
                </a:lnTo>
                <a:lnTo>
                  <a:pt x="7848779" y="0"/>
                </a:lnTo>
                <a:close/>
              </a:path>
            </a:pathLst>
          </a:custGeom>
          <a:blipFill>
            <a:blip r:embed="rId4"/>
            <a:stretch>
              <a:fillRect/>
            </a:stretch>
          </a:blipFill>
        </p:spPr>
      </p:sp>
      <p:sp>
        <p:nvSpPr>
          <p:cNvPr id="4" name="Freeform 4"/>
          <p:cNvSpPr/>
          <p:nvPr/>
        </p:nvSpPr>
        <p:spPr>
          <a:xfrm rot="5465508" flipH="1" flipV="1">
            <a:off x="4356947" y="-5658746"/>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4">
              <a:alphaModFix amt="78000"/>
            </a:blip>
            <a:stretch>
              <a:fillRect/>
            </a:stretch>
          </a:blipFill>
        </p:spPr>
      </p:sp>
      <p:sp>
        <p:nvSpPr>
          <p:cNvPr id="5" name="Freeform 5"/>
          <p:cNvSpPr/>
          <p:nvPr/>
        </p:nvSpPr>
        <p:spPr>
          <a:xfrm flipV="1">
            <a:off x="15264285" y="-8255"/>
            <a:ext cx="1978456" cy="2286031"/>
          </a:xfrm>
          <a:custGeom>
            <a:avLst/>
            <a:gdLst/>
            <a:ahLst/>
            <a:cxnLst/>
            <a:rect l="l" t="t" r="r" b="b"/>
            <a:pathLst>
              <a:path w="1978456" h="2286031">
                <a:moveTo>
                  <a:pt x="0" y="2286032"/>
                </a:moveTo>
                <a:lnTo>
                  <a:pt x="1978456" y="2286032"/>
                </a:lnTo>
                <a:lnTo>
                  <a:pt x="1978456" y="0"/>
                </a:lnTo>
                <a:lnTo>
                  <a:pt x="0" y="0"/>
                </a:lnTo>
                <a:lnTo>
                  <a:pt x="0" y="2286032"/>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17259300" y="-102870"/>
            <a:ext cx="1126686" cy="10622209"/>
            <a:chOff x="0" y="0"/>
            <a:chExt cx="174553" cy="1645658"/>
          </a:xfrm>
        </p:grpSpPr>
        <p:sp>
          <p:nvSpPr>
            <p:cNvPr id="7" name="Freeform 7"/>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7"/>
              <a:stretch>
                <a:fillRect l="-657529" r="-657529"/>
              </a:stretch>
            </a:blipFill>
          </p:spPr>
        </p:sp>
      </p:grpSp>
      <p:sp>
        <p:nvSpPr>
          <p:cNvPr id="8" name="Freeform 8"/>
          <p:cNvSpPr/>
          <p:nvPr/>
        </p:nvSpPr>
        <p:spPr>
          <a:xfrm>
            <a:off x="1661575" y="2834847"/>
            <a:ext cx="5199576" cy="4524545"/>
          </a:xfrm>
          <a:custGeom>
            <a:avLst/>
            <a:gdLst/>
            <a:ahLst/>
            <a:cxnLst/>
            <a:rect l="l" t="t" r="r" b="b"/>
            <a:pathLst>
              <a:path w="5199576" h="4524545">
                <a:moveTo>
                  <a:pt x="0" y="0"/>
                </a:moveTo>
                <a:lnTo>
                  <a:pt x="5199577" y="0"/>
                </a:lnTo>
                <a:lnTo>
                  <a:pt x="5199577" y="4524545"/>
                </a:lnTo>
                <a:lnTo>
                  <a:pt x="0" y="4524545"/>
                </a:lnTo>
                <a:lnTo>
                  <a:pt x="0" y="0"/>
                </a:lnTo>
                <a:close/>
              </a:path>
            </a:pathLst>
          </a:custGeom>
          <a:blipFill>
            <a:blip r:embed="rId8"/>
            <a:stretch>
              <a:fillRect t="-4843" r="-69734"/>
            </a:stretch>
          </a:blipFill>
        </p:spPr>
      </p:sp>
      <p:sp>
        <p:nvSpPr>
          <p:cNvPr id="9" name="Freeform 9"/>
          <p:cNvSpPr/>
          <p:nvPr/>
        </p:nvSpPr>
        <p:spPr>
          <a:xfrm>
            <a:off x="9956625" y="2631472"/>
            <a:ext cx="4207202" cy="4727921"/>
          </a:xfrm>
          <a:custGeom>
            <a:avLst/>
            <a:gdLst/>
            <a:ahLst/>
            <a:cxnLst/>
            <a:rect l="l" t="t" r="r" b="b"/>
            <a:pathLst>
              <a:path w="4207202" h="4727921">
                <a:moveTo>
                  <a:pt x="0" y="0"/>
                </a:moveTo>
                <a:lnTo>
                  <a:pt x="4207202" y="0"/>
                </a:lnTo>
                <a:lnTo>
                  <a:pt x="4207202" y="4727920"/>
                </a:lnTo>
                <a:lnTo>
                  <a:pt x="0" y="4727920"/>
                </a:lnTo>
                <a:lnTo>
                  <a:pt x="0" y="0"/>
                </a:lnTo>
                <a:close/>
              </a:path>
            </a:pathLst>
          </a:custGeom>
          <a:blipFill>
            <a:blip r:embed="rId9"/>
            <a:stretch>
              <a:fillRect l="-1165" r="-107422"/>
            </a:stretch>
          </a:blipFill>
        </p:spPr>
      </p:sp>
      <p:sp>
        <p:nvSpPr>
          <p:cNvPr id="10" name="TextBox 10"/>
          <p:cNvSpPr txBox="1"/>
          <p:nvPr/>
        </p:nvSpPr>
        <p:spPr>
          <a:xfrm>
            <a:off x="1403150" y="1000125"/>
            <a:ext cx="2858213" cy="330200"/>
          </a:xfrm>
          <a:prstGeom prst="rect">
            <a:avLst/>
          </a:prstGeom>
        </p:spPr>
        <p:txBody>
          <a:bodyPr lIns="0" tIns="0" rIns="0" bIns="0" rtlCol="0" anchor="t">
            <a:spAutoFit/>
          </a:bodyPr>
          <a:lstStyle/>
          <a:p>
            <a:pPr algn="l">
              <a:lnSpc>
                <a:spcPts val="2200"/>
              </a:lnSpc>
            </a:pPr>
            <a:r>
              <a:rPr lang="en-US" sz="2000">
                <a:solidFill>
                  <a:srgbClr val="202020"/>
                </a:solidFill>
                <a:latin typeface="Codec Pro"/>
                <a:ea typeface="Codec Pro"/>
                <a:cs typeface="Codec Pro"/>
                <a:sym typeface="Codec Pro"/>
              </a:rPr>
              <a:t>Project Overview</a:t>
            </a:r>
          </a:p>
        </p:txBody>
      </p:sp>
      <p:sp>
        <p:nvSpPr>
          <p:cNvPr id="11" name="TextBox 11"/>
          <p:cNvSpPr txBox="1"/>
          <p:nvPr/>
        </p:nvSpPr>
        <p:spPr>
          <a:xfrm>
            <a:off x="1021869" y="1895506"/>
            <a:ext cx="10882374" cy="735966"/>
          </a:xfrm>
          <a:prstGeom prst="rect">
            <a:avLst/>
          </a:prstGeom>
        </p:spPr>
        <p:txBody>
          <a:bodyPr lIns="0" tIns="0" rIns="0" bIns="0" rtlCol="0" anchor="t">
            <a:spAutoFit/>
          </a:bodyPr>
          <a:lstStyle/>
          <a:p>
            <a:pPr algn="l">
              <a:lnSpc>
                <a:spcPts val="5170"/>
              </a:lnSpc>
            </a:pPr>
            <a:r>
              <a:rPr lang="en-US" sz="4700" b="1">
                <a:solidFill>
                  <a:srgbClr val="1A3C5C"/>
                </a:solidFill>
                <a:latin typeface="Codec Pro Bold"/>
                <a:ea typeface="Codec Pro Bold"/>
                <a:cs typeface="Codec Pro Bold"/>
                <a:sym typeface="Codec Pro Bold"/>
              </a:rPr>
              <a:t>10 key questions with answers</a:t>
            </a:r>
          </a:p>
        </p:txBody>
      </p:sp>
      <p:sp>
        <p:nvSpPr>
          <p:cNvPr id="12" name="TextBox 12"/>
          <p:cNvSpPr txBox="1"/>
          <p:nvPr/>
        </p:nvSpPr>
        <p:spPr>
          <a:xfrm>
            <a:off x="1162908" y="7841533"/>
            <a:ext cx="7215891" cy="2018665"/>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Q9 — I</a:t>
            </a:r>
            <a:r>
              <a:rPr lang="en-US" sz="1900" b="1">
                <a:solidFill>
                  <a:srgbClr val="000000"/>
                </a:solidFill>
                <a:latin typeface="Codec Pro Bold"/>
                <a:ea typeface="Codec Pro Bold"/>
                <a:cs typeface="Codec Pro Bold"/>
                <a:sym typeface="Codec Pro Bold"/>
              </a:rPr>
              <a:t>nstructor Workload &amp; Performance View</a:t>
            </a:r>
            <a:r>
              <a:rPr lang="en-US" sz="1900">
                <a:solidFill>
                  <a:srgbClr val="000000"/>
                </a:solidFill>
                <a:latin typeface="Codec Pro"/>
                <a:ea typeface="Codec Pro"/>
                <a:cs typeface="Codec Pro"/>
                <a:sym typeface="Codec Pro"/>
              </a:rPr>
              <a:t> Evaluates each instructor's teaching load and student performance per semester.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A view showing InstructorName, Department, SectionsTaught, TotalStudents, AverageGradePoint, and FailRate% — to assess teaching quality and workload balance.</a:t>
            </a:r>
          </a:p>
        </p:txBody>
      </p:sp>
      <p:sp>
        <p:nvSpPr>
          <p:cNvPr id="13" name="TextBox 13"/>
          <p:cNvSpPr txBox="1"/>
          <p:nvPr/>
        </p:nvSpPr>
        <p:spPr>
          <a:xfrm>
            <a:off x="9037621" y="7841533"/>
            <a:ext cx="7215891" cy="1685290"/>
          </a:xfrm>
          <a:prstGeom prst="rect">
            <a:avLst/>
          </a:prstGeom>
        </p:spPr>
        <p:txBody>
          <a:bodyPr lIns="0" tIns="0" rIns="0" bIns="0" rtlCol="0" anchor="t">
            <a:spAutoFit/>
          </a:bodyPr>
          <a:lstStyle/>
          <a:p>
            <a:pPr algn="l">
              <a:lnSpc>
                <a:spcPts val="2660"/>
              </a:lnSpc>
              <a:spcBef>
                <a:spcPct val="0"/>
              </a:spcBef>
            </a:pPr>
            <a:r>
              <a:rPr lang="en-US" sz="1900" b="1">
                <a:solidFill>
                  <a:srgbClr val="336073"/>
                </a:solidFill>
                <a:latin typeface="Codec Pro Bold"/>
                <a:ea typeface="Codec Pro Bold"/>
                <a:cs typeface="Codec Pro Bold"/>
                <a:sym typeface="Codec Pro Bold"/>
              </a:rPr>
              <a:t>Q10 —</a:t>
            </a:r>
            <a:r>
              <a:rPr lang="en-US" sz="1900">
                <a:solidFill>
                  <a:srgbClr val="000000"/>
                </a:solidFill>
                <a:latin typeface="Codec Pro"/>
                <a:ea typeface="Codec Pro"/>
                <a:cs typeface="Codec Pro"/>
                <a:sym typeface="Codec Pro"/>
              </a:rPr>
              <a:t> </a:t>
            </a:r>
            <a:r>
              <a:rPr lang="en-US" sz="1900" b="1">
                <a:solidFill>
                  <a:srgbClr val="000000"/>
                </a:solidFill>
                <a:latin typeface="Codec Pro Bold"/>
                <a:ea typeface="Codec Pro Bold"/>
                <a:cs typeface="Codec Pro Bold"/>
                <a:sym typeface="Codec Pro Bold"/>
              </a:rPr>
              <a:t>Attendance Analytics (Eligibility Rule) </a:t>
            </a:r>
            <a:r>
              <a:rPr lang="en-US" sz="1900">
                <a:solidFill>
                  <a:srgbClr val="000000"/>
                </a:solidFill>
                <a:latin typeface="Codec Pro"/>
                <a:ea typeface="Codec Pro"/>
                <a:cs typeface="Codec Pro"/>
                <a:sym typeface="Codec Pro"/>
              </a:rPr>
              <a:t>Identifies students ineligible for the final exam due to low attendance. </a:t>
            </a:r>
            <a:r>
              <a:rPr lang="en-US" sz="1900" b="1" u="sng">
                <a:solidFill>
                  <a:srgbClr val="336073"/>
                </a:solidFill>
                <a:latin typeface="Codec Pro Bold"/>
                <a:ea typeface="Codec Pro Bold"/>
                <a:cs typeface="Codec Pro Bold"/>
                <a:sym typeface="Codec Pro Bold"/>
              </a:rPr>
              <a:t>Output</a:t>
            </a:r>
            <a:r>
              <a:rPr lang="en-US" sz="1900">
                <a:solidFill>
                  <a:srgbClr val="000000"/>
                </a:solidFill>
                <a:latin typeface="Codec Pro"/>
                <a:ea typeface="Codec Pro"/>
                <a:cs typeface="Codec Pro"/>
                <a:sym typeface="Codec Pro"/>
              </a:rPr>
              <a:t>: A list showing StudentName, CourseCode, SemesterName, and AttendancePercent — for all students below the 75% attendance threshold.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21811" y="415988"/>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11777463" y="6651735"/>
            <a:ext cx="6636856" cy="8704603"/>
            <a:chOff x="0" y="0"/>
            <a:chExt cx="1028223" cy="1348571"/>
          </a:xfrm>
        </p:grpSpPr>
        <p:sp>
          <p:nvSpPr>
            <p:cNvPr id="4" name="Freeform 4"/>
            <p:cNvSpPr/>
            <p:nvPr/>
          </p:nvSpPr>
          <p:spPr>
            <a:xfrm>
              <a:off x="0" y="0"/>
              <a:ext cx="1028223" cy="1348571"/>
            </a:xfrm>
            <a:custGeom>
              <a:avLst/>
              <a:gdLst/>
              <a:ahLst/>
              <a:cxnLst/>
              <a:rect l="l" t="t" r="r" b="b"/>
              <a:pathLst>
                <a:path w="1028223" h="1348571">
                  <a:moveTo>
                    <a:pt x="116650" y="0"/>
                  </a:moveTo>
                  <a:lnTo>
                    <a:pt x="911572" y="0"/>
                  </a:lnTo>
                  <a:cubicBezTo>
                    <a:pt x="975997" y="0"/>
                    <a:pt x="1028223" y="52226"/>
                    <a:pt x="1028223" y="116650"/>
                  </a:cubicBezTo>
                  <a:lnTo>
                    <a:pt x="1028223" y="1231920"/>
                  </a:lnTo>
                  <a:cubicBezTo>
                    <a:pt x="1028223" y="1262858"/>
                    <a:pt x="1015933" y="1292528"/>
                    <a:pt x="994057" y="1314405"/>
                  </a:cubicBezTo>
                  <a:cubicBezTo>
                    <a:pt x="972180" y="1336281"/>
                    <a:pt x="942510" y="1348571"/>
                    <a:pt x="911572" y="1348571"/>
                  </a:cubicBezTo>
                  <a:lnTo>
                    <a:pt x="116650" y="1348571"/>
                  </a:lnTo>
                  <a:cubicBezTo>
                    <a:pt x="85713" y="1348571"/>
                    <a:pt x="56042" y="1336281"/>
                    <a:pt x="34166" y="1314405"/>
                  </a:cubicBezTo>
                  <a:cubicBezTo>
                    <a:pt x="12290" y="1292528"/>
                    <a:pt x="0" y="1262858"/>
                    <a:pt x="0" y="1231920"/>
                  </a:cubicBezTo>
                  <a:lnTo>
                    <a:pt x="0" y="116650"/>
                  </a:lnTo>
                  <a:cubicBezTo>
                    <a:pt x="0" y="85713"/>
                    <a:pt x="12290" y="56042"/>
                    <a:pt x="34166" y="34166"/>
                  </a:cubicBezTo>
                  <a:cubicBezTo>
                    <a:pt x="56042" y="12290"/>
                    <a:pt x="85713" y="0"/>
                    <a:pt x="116650" y="0"/>
                  </a:cubicBezTo>
                  <a:close/>
                </a:path>
              </a:pathLst>
            </a:custGeom>
            <a:blipFill>
              <a:blip r:embed="rId5"/>
              <a:stretch>
                <a:fillRect t="-891" b="-891"/>
              </a:stretch>
            </a:blipFill>
          </p:spPr>
        </p:sp>
      </p:grpSp>
      <p:sp>
        <p:nvSpPr>
          <p:cNvPr id="5" name="Freeform 5"/>
          <p:cNvSpPr/>
          <p:nvPr/>
        </p:nvSpPr>
        <p:spPr>
          <a:xfrm rot="5465508" flipH="1" flipV="1">
            <a:off x="12849455" y="-4626392"/>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6">
              <a:alphaModFix amt="78000"/>
            </a:blip>
            <a:stretch>
              <a:fillRect/>
            </a:stretch>
          </a:blipFill>
        </p:spPr>
      </p:sp>
      <p:sp>
        <p:nvSpPr>
          <p:cNvPr id="6" name="Freeform 6"/>
          <p:cNvSpPr/>
          <p:nvPr/>
        </p:nvSpPr>
        <p:spPr>
          <a:xfrm>
            <a:off x="14311607" y="-2365132"/>
            <a:ext cx="2947693" cy="4114800"/>
          </a:xfrm>
          <a:custGeom>
            <a:avLst/>
            <a:gdLst/>
            <a:ahLst/>
            <a:cxnLst/>
            <a:rect l="l" t="t" r="r" b="b"/>
            <a:pathLst>
              <a:path w="2947693" h="4114800">
                <a:moveTo>
                  <a:pt x="0" y="0"/>
                </a:moveTo>
                <a:lnTo>
                  <a:pt x="2947693" y="0"/>
                </a:lnTo>
                <a:lnTo>
                  <a:pt x="2947693"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7" name="Group 7"/>
          <p:cNvGrpSpPr/>
          <p:nvPr/>
        </p:nvGrpSpPr>
        <p:grpSpPr>
          <a:xfrm>
            <a:off x="-97986" y="-102870"/>
            <a:ext cx="1126686" cy="10622209"/>
            <a:chOff x="0" y="0"/>
            <a:chExt cx="174553" cy="1645658"/>
          </a:xfrm>
        </p:grpSpPr>
        <p:sp>
          <p:nvSpPr>
            <p:cNvPr id="8" name="Freeform 8"/>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9"/>
              <a:stretch>
                <a:fillRect l="-926365" r="-388693"/>
              </a:stretch>
            </a:blipFill>
          </p:spPr>
        </p:sp>
      </p:grpSp>
      <p:sp>
        <p:nvSpPr>
          <p:cNvPr id="10" name="TextBox 10"/>
          <p:cNvSpPr txBox="1"/>
          <p:nvPr/>
        </p:nvSpPr>
        <p:spPr>
          <a:xfrm>
            <a:off x="3292475" y="222344"/>
            <a:ext cx="9706381" cy="846386"/>
          </a:xfrm>
          <a:prstGeom prst="rect">
            <a:avLst/>
          </a:prstGeom>
        </p:spPr>
        <p:txBody>
          <a:bodyPr lIns="0" tIns="0" rIns="0" bIns="0" rtlCol="0" anchor="t">
            <a:spAutoFit/>
          </a:bodyPr>
          <a:lstStyle/>
          <a:p>
            <a:pPr algn="l">
              <a:lnSpc>
                <a:spcPts val="6600"/>
              </a:lnSpc>
            </a:pPr>
            <a:r>
              <a:rPr lang="en-US" sz="6000" b="1" u="sng" dirty="0">
                <a:solidFill>
                  <a:srgbClr val="1A3C5C"/>
                </a:solidFill>
                <a:latin typeface="Codec Pro Bold"/>
                <a:ea typeface="Codec Pro Bold"/>
                <a:cs typeface="Codec Pro Bold"/>
                <a:sym typeface="Codec Pro Bold"/>
                <a:hlinkClick r:id="rId10"/>
              </a:rPr>
              <a:t>-Orange — Workflow.</a:t>
            </a:r>
            <a:endParaRPr lang="en-US" sz="6000" b="1" u="sng" dirty="0">
              <a:solidFill>
                <a:srgbClr val="1A3C5C"/>
              </a:solidFill>
              <a:latin typeface="Codec Pro Bold"/>
              <a:ea typeface="Codec Pro Bold"/>
              <a:cs typeface="Codec Pro Bold"/>
              <a:sym typeface="Codec Pro Bold"/>
              <a:hlinkClick r:id="rId11" tooltip="https://drive.google.com/file/d/1wLWH0X9HPIrEaGC6RRRZFdn_bnS_xhb9/view?usp=sharing"/>
            </a:endParaRPr>
          </a:p>
        </p:txBody>
      </p:sp>
      <p:sp>
        <p:nvSpPr>
          <p:cNvPr id="11" name="TextBox 11"/>
          <p:cNvSpPr txBox="1"/>
          <p:nvPr/>
        </p:nvSpPr>
        <p:spPr>
          <a:xfrm>
            <a:off x="8145666" y="2761335"/>
            <a:ext cx="8039948" cy="5937010"/>
          </a:xfrm>
          <a:prstGeom prst="rect">
            <a:avLst/>
          </a:prstGeom>
        </p:spPr>
        <p:txBody>
          <a:bodyPr wrap="square" lIns="0" tIns="0" rIns="0" bIns="0" rtlCol="0" anchor="t">
            <a:spAutoFit/>
          </a:bodyPr>
          <a:lstStyle/>
          <a:p>
            <a:r>
              <a:rPr lang="en-US" dirty="0"/>
              <a:t>This diagram shows an Orange Data Mining Workflow that loads data from a single </a:t>
            </a:r>
            <a:r>
              <a:rPr lang="en-US" b="1" dirty="0"/>
              <a:t>File</a:t>
            </a:r>
            <a:r>
              <a:rPr lang="en-US" dirty="0"/>
              <a:t> into a </a:t>
            </a:r>
            <a:r>
              <a:rPr lang="en-US" b="1" dirty="0"/>
              <a:t>Data Table</a:t>
            </a:r>
            <a:r>
              <a:rPr lang="en-US" dirty="0"/>
              <a:t>, which then feeds </a:t>
            </a:r>
            <a:r>
              <a:rPr lang="en-US" b="1" dirty="0"/>
              <a:t>5 visual analyses</a:t>
            </a:r>
            <a:r>
              <a:rPr lang="en-US" dirty="0"/>
              <a:t> — all without writing any code:</a:t>
            </a:r>
          </a:p>
          <a:p>
            <a:r>
              <a:rPr lang="en-US" b="1" dirty="0"/>
              <a:t>Age</a:t>
            </a:r>
            <a:r>
              <a:rPr lang="en-US" dirty="0"/>
              <a:t> distribution chart</a:t>
            </a:r>
          </a:p>
          <a:p>
            <a:r>
              <a:rPr lang="en-US" b="1" dirty="0"/>
              <a:t>GPA</a:t>
            </a:r>
            <a:r>
              <a:rPr lang="en-US" dirty="0"/>
              <a:t> distribution chart</a:t>
            </a:r>
          </a:p>
          <a:p>
            <a:r>
              <a:rPr lang="en-US" b="1" dirty="0"/>
              <a:t>Box Plot</a:t>
            </a:r>
            <a:r>
              <a:rPr lang="en-US" dirty="0"/>
              <a:t> for comparison</a:t>
            </a:r>
          </a:p>
          <a:p>
            <a:r>
              <a:rPr lang="en-US" b="1" dirty="0"/>
              <a:t>Scatter Plot</a:t>
            </a:r>
            <a:r>
              <a:rPr lang="en-US" dirty="0"/>
              <a:t> to explore relationships</a:t>
            </a:r>
          </a:p>
          <a:p>
            <a:r>
              <a:rPr lang="en-US" b="1" dirty="0"/>
              <a:t>Box Plot (1)</a:t>
            </a:r>
            <a:r>
              <a:rPr lang="en-US" dirty="0"/>
              <a:t> for additional comparison</a:t>
            </a:r>
          </a:p>
          <a:p>
            <a:r>
              <a:rPr lang="en-US" dirty="0"/>
              <a:t>Each analysis receives "Selected Data → Data" from the central Data Table, enabling interactive visual exploration of the dataset.</a:t>
            </a:r>
          </a:p>
          <a:p>
            <a:pPr algn="l">
              <a:lnSpc>
                <a:spcPts val="1722"/>
              </a:lnSpc>
            </a:pPr>
            <a:endParaRPr lang="en-US" sz="1230" dirty="0">
              <a:solidFill>
                <a:srgbClr val="202020"/>
              </a:solidFill>
              <a:latin typeface="Codec Pro"/>
              <a:ea typeface="Codec Pro"/>
              <a:cs typeface="Codec Pro"/>
              <a:sym typeface="Codec Pro"/>
            </a:endParaRPr>
          </a:p>
          <a:p>
            <a:pPr algn="l">
              <a:lnSpc>
                <a:spcPts val="1722"/>
              </a:lnSpc>
            </a:pPr>
            <a:endParaRPr lang="en-US" sz="1230" dirty="0">
              <a:solidFill>
                <a:srgbClr val="202020"/>
              </a:solidFill>
              <a:latin typeface="Codec Pro"/>
              <a:ea typeface="Codec Pro"/>
              <a:cs typeface="Codec Pro"/>
              <a:sym typeface="Codec Pro"/>
            </a:endParaRPr>
          </a:p>
          <a:p>
            <a:pPr algn="l">
              <a:lnSpc>
                <a:spcPts val="1722"/>
              </a:lnSpc>
            </a:pPr>
            <a:endParaRPr lang="en-US" sz="1230" dirty="0">
              <a:solidFill>
                <a:srgbClr val="202020"/>
              </a:solidFill>
              <a:latin typeface="Codec Pro"/>
              <a:ea typeface="Codec Pro"/>
              <a:cs typeface="Codec Pro"/>
              <a:sym typeface="Codec Pro"/>
            </a:endParaRPr>
          </a:p>
          <a:p>
            <a:pPr algn="l">
              <a:lnSpc>
                <a:spcPts val="1722"/>
              </a:lnSpc>
            </a:pPr>
            <a:endParaRPr lang="en-US" sz="1230" dirty="0">
              <a:solidFill>
                <a:srgbClr val="202020"/>
              </a:solidFill>
              <a:latin typeface="Codec Pro"/>
              <a:ea typeface="Codec Pro"/>
              <a:cs typeface="Codec Pro"/>
              <a:sym typeface="Codec Pro"/>
            </a:endParaRPr>
          </a:p>
          <a:p>
            <a:pPr algn="l">
              <a:lnSpc>
                <a:spcPts val="1722"/>
              </a:lnSpc>
            </a:pPr>
            <a:endParaRPr lang="en-US" sz="1230" dirty="0">
              <a:solidFill>
                <a:srgbClr val="202020"/>
              </a:solidFill>
              <a:latin typeface="Codec Pro"/>
              <a:ea typeface="Codec Pro"/>
              <a:cs typeface="Codec Pro"/>
              <a:sym typeface="Codec Pro"/>
            </a:endParaRPr>
          </a:p>
          <a:p>
            <a:pPr algn="l">
              <a:lnSpc>
                <a:spcPts val="1722"/>
              </a:lnSpc>
            </a:pPr>
            <a:endParaRPr lang="en-US" sz="1230" dirty="0">
              <a:solidFill>
                <a:srgbClr val="202020"/>
              </a:solidFill>
              <a:latin typeface="Codec Pro"/>
              <a:ea typeface="Codec Pro"/>
              <a:cs typeface="Codec Pro"/>
              <a:sym typeface="Codec Pro"/>
            </a:endParaRPr>
          </a:p>
          <a:p>
            <a:pPr algn="l">
              <a:lnSpc>
                <a:spcPts val="2119"/>
              </a:lnSpc>
            </a:pPr>
            <a:endParaRPr lang="en-US" sz="1230" dirty="0">
              <a:solidFill>
                <a:srgbClr val="202020"/>
              </a:solidFill>
              <a:latin typeface="Codec Pro"/>
              <a:ea typeface="Codec Pro"/>
              <a:cs typeface="Codec Pro"/>
              <a:sym typeface="Codec Pro"/>
            </a:endParaRPr>
          </a:p>
          <a:p>
            <a:pPr algn="l">
              <a:lnSpc>
                <a:spcPts val="2119"/>
              </a:lnSpc>
            </a:pPr>
            <a:endParaRPr lang="en-US" sz="1230" dirty="0">
              <a:solidFill>
                <a:srgbClr val="202020"/>
              </a:solidFill>
              <a:latin typeface="Codec Pro"/>
              <a:ea typeface="Codec Pro"/>
              <a:cs typeface="Codec Pro"/>
              <a:sym typeface="Codec Pro"/>
            </a:endParaRPr>
          </a:p>
          <a:p>
            <a:pPr algn="l">
              <a:lnSpc>
                <a:spcPts val="2119"/>
              </a:lnSpc>
            </a:pPr>
            <a:endParaRPr lang="en-US" sz="1230" dirty="0">
              <a:solidFill>
                <a:srgbClr val="202020"/>
              </a:solidFill>
              <a:latin typeface="Codec Pro"/>
              <a:ea typeface="Codec Pro"/>
              <a:cs typeface="Codec Pro"/>
              <a:sym typeface="Codec Pro"/>
            </a:endParaRPr>
          </a:p>
          <a:p>
            <a:pPr algn="l">
              <a:lnSpc>
                <a:spcPts val="2119"/>
              </a:lnSpc>
            </a:pPr>
            <a:endParaRPr lang="en-US" sz="1230" dirty="0">
              <a:solidFill>
                <a:srgbClr val="202020"/>
              </a:solidFill>
              <a:latin typeface="Codec Pro"/>
              <a:ea typeface="Codec Pro"/>
              <a:cs typeface="Codec Pro"/>
              <a:sym typeface="Codec Pro"/>
            </a:endParaRPr>
          </a:p>
          <a:p>
            <a:pPr algn="l">
              <a:lnSpc>
                <a:spcPts val="2119"/>
              </a:lnSpc>
            </a:pPr>
            <a:endParaRPr lang="en-US" sz="1230" dirty="0">
              <a:solidFill>
                <a:srgbClr val="202020"/>
              </a:solidFill>
              <a:latin typeface="Codec Pro"/>
              <a:ea typeface="Codec Pro"/>
              <a:cs typeface="Codec Pro"/>
              <a:sym typeface="Codec Pro"/>
            </a:endParaRPr>
          </a:p>
          <a:p>
            <a:pPr algn="l">
              <a:lnSpc>
                <a:spcPts val="2119"/>
              </a:lnSpc>
            </a:pPr>
            <a:endParaRPr lang="en-US" sz="1230" dirty="0">
              <a:solidFill>
                <a:srgbClr val="202020"/>
              </a:solidFill>
              <a:latin typeface="Codec Pro"/>
              <a:ea typeface="Codec Pro"/>
              <a:cs typeface="Codec Pro"/>
              <a:sym typeface="Codec Pro"/>
            </a:endParaRPr>
          </a:p>
          <a:p>
            <a:pPr algn="l">
              <a:lnSpc>
                <a:spcPts val="2119"/>
              </a:lnSpc>
              <a:spcBef>
                <a:spcPct val="0"/>
              </a:spcBef>
            </a:pPr>
            <a:endParaRPr lang="en-US" sz="1230" dirty="0">
              <a:solidFill>
                <a:srgbClr val="202020"/>
              </a:solidFill>
              <a:latin typeface="Codec Pro"/>
              <a:ea typeface="Codec Pro"/>
              <a:cs typeface="Codec Pro"/>
              <a:sym typeface="Codec Pro"/>
            </a:endParaRPr>
          </a:p>
        </p:txBody>
      </p:sp>
      <p:pic>
        <p:nvPicPr>
          <p:cNvPr id="13" name="Picture 12">
            <a:extLst>
              <a:ext uri="{FF2B5EF4-FFF2-40B4-BE49-F238E27FC236}">
                <a16:creationId xmlns:a16="http://schemas.microsoft.com/office/drawing/2014/main" id="{F6FA4CB8-FABD-474F-8A52-A2600876D59B}"/>
              </a:ext>
            </a:extLst>
          </p:cNvPr>
          <p:cNvPicPr>
            <a:picLocks noChangeAspect="1"/>
          </p:cNvPicPr>
          <p:nvPr/>
        </p:nvPicPr>
        <p:blipFill>
          <a:blip r:embed="rId12"/>
          <a:stretch>
            <a:fillRect/>
          </a:stretch>
        </p:blipFill>
        <p:spPr>
          <a:xfrm>
            <a:off x="1279766" y="2171700"/>
            <a:ext cx="6761461" cy="7106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79334" y="560295"/>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3215549" y="6058156"/>
            <a:ext cx="7848780" cy="7891826"/>
          </a:xfrm>
          <a:custGeom>
            <a:avLst/>
            <a:gdLst/>
            <a:ahLst/>
            <a:cxnLst/>
            <a:rect l="l" t="t" r="r" b="b"/>
            <a:pathLst>
              <a:path w="7848780" h="7891826">
                <a:moveTo>
                  <a:pt x="7848779" y="0"/>
                </a:moveTo>
                <a:lnTo>
                  <a:pt x="0" y="0"/>
                </a:lnTo>
                <a:lnTo>
                  <a:pt x="0" y="7891826"/>
                </a:lnTo>
                <a:lnTo>
                  <a:pt x="7848779" y="7891826"/>
                </a:lnTo>
                <a:lnTo>
                  <a:pt x="7848779" y="0"/>
                </a:lnTo>
                <a:close/>
              </a:path>
            </a:pathLst>
          </a:custGeom>
          <a:blipFill>
            <a:blip r:embed="rId4"/>
            <a:stretch>
              <a:fillRect/>
            </a:stretch>
          </a:blipFill>
        </p:spPr>
      </p:sp>
      <p:sp>
        <p:nvSpPr>
          <p:cNvPr id="4" name="Freeform 4"/>
          <p:cNvSpPr/>
          <p:nvPr/>
        </p:nvSpPr>
        <p:spPr>
          <a:xfrm rot="5465508" flipH="1" flipV="1">
            <a:off x="4356947" y="-5658746"/>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4">
              <a:alphaModFix amt="78000"/>
            </a:blip>
            <a:stretch>
              <a:fillRect/>
            </a:stretch>
          </a:blipFill>
        </p:spPr>
      </p:sp>
      <p:grpSp>
        <p:nvGrpSpPr>
          <p:cNvPr id="5" name="Group 5"/>
          <p:cNvGrpSpPr/>
          <p:nvPr/>
        </p:nvGrpSpPr>
        <p:grpSpPr>
          <a:xfrm>
            <a:off x="17259300" y="-102870"/>
            <a:ext cx="1126686" cy="10622209"/>
            <a:chOff x="0" y="0"/>
            <a:chExt cx="174553" cy="1645658"/>
          </a:xfrm>
        </p:grpSpPr>
        <p:sp>
          <p:nvSpPr>
            <p:cNvPr id="6" name="Freeform 6"/>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5"/>
              <a:stretch>
                <a:fillRect l="-657529" r="-657529"/>
              </a:stretch>
            </a:blipFill>
          </p:spPr>
        </p:sp>
      </p:grpSp>
      <p:sp>
        <p:nvSpPr>
          <p:cNvPr id="7" name="Freeform 7"/>
          <p:cNvSpPr/>
          <p:nvPr/>
        </p:nvSpPr>
        <p:spPr>
          <a:xfrm>
            <a:off x="1727756" y="842810"/>
            <a:ext cx="13536529" cy="7641167"/>
          </a:xfrm>
          <a:custGeom>
            <a:avLst/>
            <a:gdLst/>
            <a:ahLst/>
            <a:cxnLst/>
            <a:rect l="l" t="t" r="r" b="b"/>
            <a:pathLst>
              <a:path w="13536529" h="7641167">
                <a:moveTo>
                  <a:pt x="0" y="0"/>
                </a:moveTo>
                <a:lnTo>
                  <a:pt x="13536529" y="0"/>
                </a:lnTo>
                <a:lnTo>
                  <a:pt x="13536529" y="7641167"/>
                </a:lnTo>
                <a:lnTo>
                  <a:pt x="0" y="7641167"/>
                </a:lnTo>
                <a:lnTo>
                  <a:pt x="0" y="0"/>
                </a:lnTo>
                <a:close/>
              </a:path>
            </a:pathLst>
          </a:custGeom>
          <a:blipFill>
            <a:blip r:embed="rId6"/>
            <a:stretch>
              <a:fillRect r="-130"/>
            </a:stretch>
          </a:blipFill>
        </p:spPr>
      </p:sp>
      <p:sp>
        <p:nvSpPr>
          <p:cNvPr id="8" name="TextBox 8"/>
          <p:cNvSpPr txBox="1"/>
          <p:nvPr/>
        </p:nvSpPr>
        <p:spPr>
          <a:xfrm>
            <a:off x="2891780" y="-24858"/>
            <a:ext cx="12138681" cy="735966"/>
          </a:xfrm>
          <a:prstGeom prst="rect">
            <a:avLst/>
          </a:prstGeom>
        </p:spPr>
        <p:txBody>
          <a:bodyPr lIns="0" tIns="0" rIns="0" bIns="0" rtlCol="0" anchor="t">
            <a:spAutoFit/>
          </a:bodyPr>
          <a:lstStyle/>
          <a:p>
            <a:pPr algn="l">
              <a:lnSpc>
                <a:spcPts val="5170"/>
              </a:lnSpc>
            </a:pPr>
            <a:r>
              <a:rPr lang="en-US" sz="4700" b="1" u="sng">
                <a:solidFill>
                  <a:srgbClr val="1A3C5C"/>
                </a:solidFill>
                <a:latin typeface="Codec Pro Bold"/>
                <a:ea typeface="Codec Pro Bold"/>
                <a:cs typeface="Codec Pro Bold"/>
                <a:sym typeface="Codec Pro Bold"/>
                <a:hlinkClick r:id="rId7" tooltip="https://drive.google.com/file/d/1CHBjom0uFUJSLB5TC1clkespy92CYDSa/view?usp=sharing"/>
              </a:rPr>
              <a:t>University Student Analytics Dashboard</a:t>
            </a:r>
          </a:p>
        </p:txBody>
      </p:sp>
      <p:sp>
        <p:nvSpPr>
          <p:cNvPr id="9" name="TextBox 9"/>
          <p:cNvSpPr txBox="1"/>
          <p:nvPr/>
        </p:nvSpPr>
        <p:spPr>
          <a:xfrm>
            <a:off x="1322050" y="8549005"/>
            <a:ext cx="14750867" cy="1685290"/>
          </a:xfrm>
          <a:prstGeom prst="rect">
            <a:avLst/>
          </a:prstGeom>
        </p:spPr>
        <p:txBody>
          <a:bodyPr lIns="0" tIns="0" rIns="0" bIns="0" rtlCol="0" anchor="t">
            <a:spAutoFit/>
          </a:bodyPr>
          <a:lstStyle/>
          <a:p>
            <a:pPr algn="l">
              <a:lnSpc>
                <a:spcPts val="2660"/>
              </a:lnSpc>
              <a:spcBef>
                <a:spcPct val="0"/>
              </a:spcBef>
            </a:pPr>
            <a:r>
              <a:rPr lang="en-US" sz="1900" b="1">
                <a:solidFill>
                  <a:srgbClr val="000000"/>
                </a:solidFill>
                <a:latin typeface="Codec Pro Bold"/>
                <a:ea typeface="Codec Pro Bold"/>
                <a:cs typeface="Codec Pro Bold"/>
                <a:sym typeface="Codec Pro Bold"/>
              </a:rPr>
              <a:t>The dashboard presents data on 5,000 students across 8 departments with an average GPA of 2.87 and an average age of 25.71. Business leads all departments with 968 students, while BSc Computer Science is the most popular program at 694. Gender distribution is nearly equal (50.68% Female / 49.32% Male), with 74.88% of s</a:t>
            </a:r>
            <a:r>
              <a:rPr lang="en-US" sz="1900" b="1" u="none">
                <a:solidFill>
                  <a:srgbClr val="000000"/>
                </a:solidFill>
                <a:latin typeface="Codec Pro Bold"/>
                <a:ea typeface="Codec Pro Bold"/>
                <a:cs typeface="Codec Pro Bold"/>
                <a:sym typeface="Codec Pro Bold"/>
              </a:rPr>
              <a:t>tu</a:t>
            </a:r>
            <a:r>
              <a:rPr lang="en-US" sz="1900" b="1">
                <a:solidFill>
                  <a:srgbClr val="000000"/>
                </a:solidFill>
                <a:latin typeface="Codec Pro Bold"/>
                <a:ea typeface="Codec Pro Bold"/>
                <a:cs typeface="Codec Pro Bold"/>
                <a:sym typeface="Codec Pro Bold"/>
              </a:rPr>
              <a:t>den</a:t>
            </a:r>
            <a:r>
              <a:rPr lang="en-US" sz="1900" b="1" u="none">
                <a:solidFill>
                  <a:srgbClr val="000000"/>
                </a:solidFill>
                <a:latin typeface="Codec Pro Bold"/>
                <a:ea typeface="Codec Pro Bold"/>
                <a:cs typeface="Codec Pro Bold"/>
                <a:sym typeface="Codec Pro Bold"/>
              </a:rPr>
              <a:t>t</a:t>
            </a:r>
            <a:r>
              <a:rPr lang="en-US" sz="1900" b="1">
                <a:solidFill>
                  <a:srgbClr val="000000"/>
                </a:solidFill>
                <a:latin typeface="Codec Pro Bold"/>
                <a:ea typeface="Codec Pro Bold"/>
                <a:cs typeface="Codec Pro Bold"/>
                <a:sym typeface="Codec Pro Bold"/>
              </a:rPr>
              <a:t>s academically active, while the 5.48% Suspended group requires immediate intervention. Enrollment peaked in 2021 and 2023 at 1.3K but dropped to 0.8K in 2024, signaling a trend that needs investigation.</a:t>
            </a:r>
          </a:p>
        </p:txBody>
      </p:sp>
      <p:sp>
        <p:nvSpPr>
          <p:cNvPr id="10" name="Freeform 10"/>
          <p:cNvSpPr/>
          <p:nvPr/>
        </p:nvSpPr>
        <p:spPr>
          <a:xfrm flipV="1">
            <a:off x="15351302" y="-8255"/>
            <a:ext cx="1891439" cy="2185486"/>
          </a:xfrm>
          <a:custGeom>
            <a:avLst/>
            <a:gdLst/>
            <a:ahLst/>
            <a:cxnLst/>
            <a:rect l="l" t="t" r="r" b="b"/>
            <a:pathLst>
              <a:path w="1891439" h="2185486">
                <a:moveTo>
                  <a:pt x="0" y="2185487"/>
                </a:moveTo>
                <a:lnTo>
                  <a:pt x="1891439" y="2185487"/>
                </a:lnTo>
                <a:lnTo>
                  <a:pt x="1891439" y="0"/>
                </a:lnTo>
                <a:lnTo>
                  <a:pt x="0" y="0"/>
                </a:lnTo>
                <a:lnTo>
                  <a:pt x="0" y="2185487"/>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4017" y="420698"/>
            <a:ext cx="249366" cy="301625"/>
          </a:xfrm>
          <a:custGeom>
            <a:avLst/>
            <a:gdLst/>
            <a:ahLst/>
            <a:cxnLst/>
            <a:rect l="l" t="t" r="r" b="b"/>
            <a:pathLst>
              <a:path w="249366" h="301625">
                <a:moveTo>
                  <a:pt x="0" y="0"/>
                </a:moveTo>
                <a:lnTo>
                  <a:pt x="249366" y="0"/>
                </a:lnTo>
                <a:lnTo>
                  <a:pt x="249366" y="301625"/>
                </a:lnTo>
                <a:lnTo>
                  <a:pt x="0" y="3016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9500477" y="8182185"/>
            <a:ext cx="7861661" cy="3502485"/>
            <a:chOff x="0" y="0"/>
            <a:chExt cx="1217977" cy="542627"/>
          </a:xfrm>
        </p:grpSpPr>
        <p:sp>
          <p:nvSpPr>
            <p:cNvPr id="4" name="Freeform 4"/>
            <p:cNvSpPr/>
            <p:nvPr/>
          </p:nvSpPr>
          <p:spPr>
            <a:xfrm>
              <a:off x="0" y="0"/>
              <a:ext cx="1217977" cy="542627"/>
            </a:xfrm>
            <a:custGeom>
              <a:avLst/>
              <a:gdLst/>
              <a:ahLst/>
              <a:cxnLst/>
              <a:rect l="l" t="t" r="r" b="b"/>
              <a:pathLst>
                <a:path w="1217977" h="542627">
                  <a:moveTo>
                    <a:pt x="98477" y="0"/>
                  </a:moveTo>
                  <a:lnTo>
                    <a:pt x="1119500" y="0"/>
                  </a:lnTo>
                  <a:cubicBezTo>
                    <a:pt x="1145618" y="0"/>
                    <a:pt x="1170666" y="10375"/>
                    <a:pt x="1189134" y="28843"/>
                  </a:cubicBezTo>
                  <a:cubicBezTo>
                    <a:pt x="1207602" y="47311"/>
                    <a:pt x="1217977" y="72359"/>
                    <a:pt x="1217977" y="98477"/>
                  </a:cubicBezTo>
                  <a:lnTo>
                    <a:pt x="1217977" y="444150"/>
                  </a:lnTo>
                  <a:cubicBezTo>
                    <a:pt x="1217977" y="470267"/>
                    <a:pt x="1207602" y="495315"/>
                    <a:pt x="1189134" y="513783"/>
                  </a:cubicBezTo>
                  <a:cubicBezTo>
                    <a:pt x="1170666" y="532251"/>
                    <a:pt x="1145618" y="542627"/>
                    <a:pt x="1119500" y="542627"/>
                  </a:cubicBezTo>
                  <a:lnTo>
                    <a:pt x="98477" y="542627"/>
                  </a:lnTo>
                  <a:cubicBezTo>
                    <a:pt x="72359" y="542627"/>
                    <a:pt x="47311" y="532251"/>
                    <a:pt x="28843" y="513783"/>
                  </a:cubicBezTo>
                  <a:cubicBezTo>
                    <a:pt x="10375" y="495315"/>
                    <a:pt x="0" y="470267"/>
                    <a:pt x="0" y="444150"/>
                  </a:cubicBezTo>
                  <a:lnTo>
                    <a:pt x="0" y="98477"/>
                  </a:lnTo>
                  <a:cubicBezTo>
                    <a:pt x="0" y="72359"/>
                    <a:pt x="10375" y="47311"/>
                    <a:pt x="28843" y="28843"/>
                  </a:cubicBezTo>
                  <a:cubicBezTo>
                    <a:pt x="47311" y="10375"/>
                    <a:pt x="72359" y="0"/>
                    <a:pt x="98477" y="0"/>
                  </a:cubicBezTo>
                  <a:close/>
                </a:path>
              </a:pathLst>
            </a:custGeom>
            <a:blipFill>
              <a:blip r:embed="rId4"/>
              <a:stretch>
                <a:fillRect t="-40636" b="-9189"/>
              </a:stretch>
            </a:blipFill>
          </p:spPr>
        </p:sp>
      </p:grpSp>
      <p:sp>
        <p:nvSpPr>
          <p:cNvPr id="5" name="Freeform 5"/>
          <p:cNvSpPr/>
          <p:nvPr/>
        </p:nvSpPr>
        <p:spPr>
          <a:xfrm rot="5465508" flipH="1" flipV="1">
            <a:off x="12886397" y="-4883308"/>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5">
              <a:alphaModFix amt="78000"/>
            </a:blip>
            <a:stretch>
              <a:fillRect/>
            </a:stretch>
          </a:blipFill>
        </p:spPr>
      </p:sp>
      <p:sp>
        <p:nvSpPr>
          <p:cNvPr id="6" name="Freeform 6"/>
          <p:cNvSpPr/>
          <p:nvPr/>
        </p:nvSpPr>
        <p:spPr>
          <a:xfrm>
            <a:off x="16246819" y="-1431867"/>
            <a:ext cx="7315200" cy="2460567"/>
          </a:xfrm>
          <a:custGeom>
            <a:avLst/>
            <a:gdLst/>
            <a:ahLst/>
            <a:cxnLst/>
            <a:rect l="l" t="t" r="r" b="b"/>
            <a:pathLst>
              <a:path w="7315200" h="2460567">
                <a:moveTo>
                  <a:pt x="0" y="0"/>
                </a:moveTo>
                <a:lnTo>
                  <a:pt x="7315200" y="0"/>
                </a:lnTo>
                <a:lnTo>
                  <a:pt x="7315200" y="2460567"/>
                </a:lnTo>
                <a:lnTo>
                  <a:pt x="0" y="24605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3037702" y="227023"/>
            <a:ext cx="7249257" cy="846386"/>
          </a:xfrm>
          <a:prstGeom prst="rect">
            <a:avLst/>
          </a:prstGeom>
        </p:spPr>
        <p:txBody>
          <a:bodyPr lIns="0" tIns="0" rIns="0" bIns="0" rtlCol="0" anchor="t">
            <a:spAutoFit/>
          </a:bodyPr>
          <a:lstStyle/>
          <a:p>
            <a:pPr algn="l">
              <a:lnSpc>
                <a:spcPts val="6600"/>
              </a:lnSpc>
            </a:pPr>
            <a:r>
              <a:rPr lang="en-US" sz="6000" b="1" u="sng" dirty="0">
                <a:solidFill>
                  <a:srgbClr val="1A3C5C"/>
                </a:solidFill>
                <a:latin typeface="Codec Pro Bold"/>
                <a:ea typeface="Codec Pro Bold"/>
                <a:cs typeface="Codec Pro Bold"/>
                <a:sym typeface="Codec Pro Bold"/>
                <a:hlinkClick r:id="rId8"/>
              </a:rPr>
              <a:t>Python EDA </a:t>
            </a:r>
            <a:endParaRPr lang="en-US" sz="6000" b="1" u="sng" dirty="0">
              <a:solidFill>
                <a:srgbClr val="1A3C5C"/>
              </a:solidFill>
              <a:latin typeface="Codec Pro Bold"/>
              <a:ea typeface="Codec Pro Bold"/>
              <a:cs typeface="Codec Pro Bold"/>
              <a:sym typeface="Codec Pro Bold"/>
              <a:hlinkClick r:id="rId9" tooltip="https://drive.google.com/file/d/1hdqkTpUHEyxgAaJ94Zfhx1WPYs0vaxqb/view?usp=sharing"/>
            </a:endParaRPr>
          </a:p>
        </p:txBody>
      </p:sp>
      <p:sp>
        <p:nvSpPr>
          <p:cNvPr id="10" name="TextBox 10"/>
          <p:cNvSpPr txBox="1"/>
          <p:nvPr/>
        </p:nvSpPr>
        <p:spPr>
          <a:xfrm>
            <a:off x="10421407" y="3937944"/>
            <a:ext cx="6019800" cy="2411109"/>
          </a:xfrm>
          <a:prstGeom prst="rect">
            <a:avLst/>
          </a:prstGeom>
        </p:spPr>
        <p:txBody>
          <a:bodyPr wrap="square" lIns="0" tIns="0" rIns="0" bIns="0" rtlCol="0" anchor="t">
            <a:spAutoFit/>
          </a:bodyPr>
          <a:lstStyle/>
          <a:p>
            <a:pPr>
              <a:lnSpc>
                <a:spcPts val="1708"/>
              </a:lnSpc>
            </a:pPr>
            <a:r>
              <a:rPr lang="en-US" sz="2000" b="1" dirty="0"/>
              <a:t>Data for 5,000 students was loaded from an Excel file containing 6 sheets, cleaned with zero missing or duplicate values, and a balanced gender split with an average GPA of 2.87 consistent across all departments. Analysis revealed that attendance is the primary driver of academic success — students above 80% attendance are 3x more likely to achieve a GPA above 3.5 — while age showed no impact. Students below 50% attendance were flagged as a critical at-risk group, and high-cardinality identifiers were excluded for privacy compliance.</a:t>
            </a:r>
            <a:endParaRPr lang="en-US" sz="2000" b="1" dirty="0">
              <a:solidFill>
                <a:srgbClr val="202020"/>
              </a:solidFill>
              <a:latin typeface="Codec Pro"/>
              <a:ea typeface="Codec Pro"/>
              <a:cs typeface="Codec Pro"/>
              <a:sym typeface="Codec Pro"/>
            </a:endParaRPr>
          </a:p>
        </p:txBody>
      </p:sp>
      <p:pic>
        <p:nvPicPr>
          <p:cNvPr id="11" name="Picture 10">
            <a:extLst>
              <a:ext uri="{FF2B5EF4-FFF2-40B4-BE49-F238E27FC236}">
                <a16:creationId xmlns:a16="http://schemas.microsoft.com/office/drawing/2014/main" id="{4023F742-181B-4CC7-A0A0-7B71539855CA}"/>
              </a:ext>
            </a:extLst>
          </p:cNvPr>
          <p:cNvPicPr>
            <a:picLocks noChangeAspect="1"/>
          </p:cNvPicPr>
          <p:nvPr/>
        </p:nvPicPr>
        <p:blipFill>
          <a:blip r:embed="rId10"/>
          <a:stretch>
            <a:fillRect/>
          </a:stretch>
        </p:blipFill>
        <p:spPr>
          <a:xfrm>
            <a:off x="907933" y="1748636"/>
            <a:ext cx="6731339" cy="67897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stretch>
              <a:fillRect t="-9222" b="-9222"/>
            </a:stretch>
          </a:blipFill>
        </p:spPr>
      </p:sp>
      <p:sp>
        <p:nvSpPr>
          <p:cNvPr id="3" name="Freeform 3"/>
          <p:cNvSpPr/>
          <p:nvPr/>
        </p:nvSpPr>
        <p:spPr>
          <a:xfrm>
            <a:off x="8761936" y="4469080"/>
            <a:ext cx="764129" cy="924267"/>
          </a:xfrm>
          <a:custGeom>
            <a:avLst/>
            <a:gdLst/>
            <a:ahLst/>
            <a:cxnLst/>
            <a:rect l="l" t="t" r="r" b="b"/>
            <a:pathLst>
              <a:path w="764129" h="924267">
                <a:moveTo>
                  <a:pt x="0" y="0"/>
                </a:moveTo>
                <a:lnTo>
                  <a:pt x="764128" y="0"/>
                </a:lnTo>
                <a:lnTo>
                  <a:pt x="764128" y="924267"/>
                </a:lnTo>
                <a:lnTo>
                  <a:pt x="0" y="9242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10800000">
            <a:off x="-763108" y="4269076"/>
            <a:ext cx="3583617" cy="4114800"/>
          </a:xfrm>
          <a:custGeom>
            <a:avLst/>
            <a:gdLst/>
            <a:ahLst/>
            <a:cxnLst/>
            <a:rect l="l" t="t" r="r" b="b"/>
            <a:pathLst>
              <a:path w="3583617" h="4114800">
                <a:moveTo>
                  <a:pt x="0" y="0"/>
                </a:moveTo>
                <a:lnTo>
                  <a:pt x="3583616" y="0"/>
                </a:lnTo>
                <a:lnTo>
                  <a:pt x="358361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1028700" y="-1315739"/>
            <a:ext cx="16230600" cy="5165715"/>
            <a:chOff x="0" y="0"/>
            <a:chExt cx="2514545" cy="800304"/>
          </a:xfrm>
        </p:grpSpPr>
        <p:sp>
          <p:nvSpPr>
            <p:cNvPr id="6" name="Freeform 6"/>
            <p:cNvSpPr/>
            <p:nvPr/>
          </p:nvSpPr>
          <p:spPr>
            <a:xfrm>
              <a:off x="0" y="0"/>
              <a:ext cx="2514545" cy="800304"/>
            </a:xfrm>
            <a:custGeom>
              <a:avLst/>
              <a:gdLst/>
              <a:ahLst/>
              <a:cxnLst/>
              <a:rect l="l" t="t" r="r" b="b"/>
              <a:pathLst>
                <a:path w="2514545" h="800304">
                  <a:moveTo>
                    <a:pt x="47700" y="0"/>
                  </a:moveTo>
                  <a:lnTo>
                    <a:pt x="2466845" y="0"/>
                  </a:lnTo>
                  <a:cubicBezTo>
                    <a:pt x="2479496" y="0"/>
                    <a:pt x="2491628" y="5025"/>
                    <a:pt x="2500574" y="13971"/>
                  </a:cubicBezTo>
                  <a:cubicBezTo>
                    <a:pt x="2509519" y="22916"/>
                    <a:pt x="2514545" y="35049"/>
                    <a:pt x="2514545" y="47700"/>
                  </a:cubicBezTo>
                  <a:lnTo>
                    <a:pt x="2514545" y="752605"/>
                  </a:lnTo>
                  <a:cubicBezTo>
                    <a:pt x="2514545" y="765256"/>
                    <a:pt x="2509519" y="777388"/>
                    <a:pt x="2500574" y="786334"/>
                  </a:cubicBezTo>
                  <a:cubicBezTo>
                    <a:pt x="2491628" y="795279"/>
                    <a:pt x="2479496" y="800304"/>
                    <a:pt x="2466845" y="800304"/>
                  </a:cubicBezTo>
                  <a:lnTo>
                    <a:pt x="47700" y="800304"/>
                  </a:lnTo>
                  <a:cubicBezTo>
                    <a:pt x="35049" y="800304"/>
                    <a:pt x="22916" y="795279"/>
                    <a:pt x="13971" y="786334"/>
                  </a:cubicBezTo>
                  <a:cubicBezTo>
                    <a:pt x="5025" y="777388"/>
                    <a:pt x="0" y="765256"/>
                    <a:pt x="0" y="752605"/>
                  </a:cubicBezTo>
                  <a:lnTo>
                    <a:pt x="0" y="47700"/>
                  </a:lnTo>
                  <a:cubicBezTo>
                    <a:pt x="0" y="35049"/>
                    <a:pt x="5025" y="22916"/>
                    <a:pt x="13971" y="13971"/>
                  </a:cubicBezTo>
                  <a:cubicBezTo>
                    <a:pt x="22916" y="5025"/>
                    <a:pt x="35049" y="0"/>
                    <a:pt x="47700" y="0"/>
                  </a:cubicBezTo>
                  <a:close/>
                </a:path>
              </a:pathLst>
            </a:custGeom>
            <a:blipFill>
              <a:blip r:embed="rId7"/>
              <a:stretch>
                <a:fillRect t="-54667" b="-54667"/>
              </a:stretch>
            </a:blipFill>
          </p:spPr>
        </p:sp>
      </p:grpSp>
      <p:sp>
        <p:nvSpPr>
          <p:cNvPr id="7" name="Freeform 7"/>
          <p:cNvSpPr/>
          <p:nvPr/>
        </p:nvSpPr>
        <p:spPr>
          <a:xfrm flipH="1">
            <a:off x="15660594" y="5457921"/>
            <a:ext cx="2742364" cy="3847705"/>
          </a:xfrm>
          <a:custGeom>
            <a:avLst/>
            <a:gdLst/>
            <a:ahLst/>
            <a:cxnLst/>
            <a:rect l="l" t="t" r="r" b="b"/>
            <a:pathLst>
              <a:path w="2742364" h="3847705">
                <a:moveTo>
                  <a:pt x="2742364" y="0"/>
                </a:moveTo>
                <a:lnTo>
                  <a:pt x="0" y="0"/>
                </a:lnTo>
                <a:lnTo>
                  <a:pt x="0" y="3847705"/>
                </a:lnTo>
                <a:lnTo>
                  <a:pt x="2742364" y="3847705"/>
                </a:lnTo>
                <a:lnTo>
                  <a:pt x="2742364"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10974614" y="7561722"/>
            <a:ext cx="156067" cy="154364"/>
          </a:xfrm>
          <a:custGeom>
            <a:avLst/>
            <a:gdLst/>
            <a:ahLst/>
            <a:cxnLst/>
            <a:rect l="l" t="t" r="r" b="b"/>
            <a:pathLst>
              <a:path w="156067" h="154364">
                <a:moveTo>
                  <a:pt x="0" y="0"/>
                </a:moveTo>
                <a:lnTo>
                  <a:pt x="156067" y="0"/>
                </a:lnTo>
                <a:lnTo>
                  <a:pt x="156067" y="154364"/>
                </a:lnTo>
                <a:lnTo>
                  <a:pt x="0" y="15436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894097" y="5745772"/>
            <a:ext cx="10499806" cy="1739900"/>
          </a:xfrm>
          <a:prstGeom prst="rect">
            <a:avLst/>
          </a:prstGeom>
        </p:spPr>
        <p:txBody>
          <a:bodyPr lIns="0" tIns="0" rIns="0" bIns="0" rtlCol="0" anchor="t">
            <a:spAutoFit/>
          </a:bodyPr>
          <a:lstStyle/>
          <a:p>
            <a:pPr algn="ctr">
              <a:lnSpc>
                <a:spcPts val="12100"/>
              </a:lnSpc>
            </a:pPr>
            <a:r>
              <a:rPr lang="en-US" sz="11000" b="1">
                <a:solidFill>
                  <a:srgbClr val="FFFFFF"/>
                </a:solidFill>
                <a:latin typeface="Codec Pro Bold"/>
                <a:ea typeface="Codec Pro Bold"/>
                <a:cs typeface="Codec Pro Bold"/>
                <a:sym typeface="Codec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1000</Words>
  <Application>Microsoft Office PowerPoint</Application>
  <PresentationFormat>Custom</PresentationFormat>
  <Paragraphs>81</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Codec Pro Bold</vt:lpstr>
      <vt:lpstr>Calibri</vt:lpstr>
      <vt:lpstr>Arial</vt:lpstr>
      <vt:lpstr>Codec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Clean Quarter Report Presentation</dc:title>
  <cp:lastModifiedBy>Admin</cp:lastModifiedBy>
  <cp:revision>9</cp:revision>
  <dcterms:created xsi:type="dcterms:W3CDTF">2006-08-16T00:00:00Z</dcterms:created>
  <dcterms:modified xsi:type="dcterms:W3CDTF">2026-03-30T15:05:28Z</dcterms:modified>
  <dc:identifier>DAHD7sU_m_o</dc:identifier>
</cp:coreProperties>
</file>